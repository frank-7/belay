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bdae8335d447f9" /><Relationship Type="http://schemas.openxmlformats.org/officeDocument/2006/relationships/extended-properties" Target="/docProps/app.xml" Id="Rf4eb081044f84702" /><Relationship Type="http://schemas.openxmlformats.org/officeDocument/2006/relationships/officeDocument" Target="/ppt/presentation.xml" Id="R9b3bd1d7091d458f" /></Relationships>
</file>

<file path=ppt/presentation.xml><?xml version="1.0" encoding="utf-8"?>
<p:presentation xmlns:p="http://schemas.openxmlformats.org/presentationml/2006/main">
  <p:sldMasterIdLst>
    <p:sldMasterId xmlns:r="http://schemas.openxmlformats.org/officeDocument/2006/relationships" id="2147483648" r:id="Rafb8f8f476854768"/>
  </p:sldMasterIdLst>
  <p:notesMasterIdLst>
    <p:notesMasterId xmlns:r="http://schemas.openxmlformats.org/officeDocument/2006/relationships" r:id="Rfbc51a23b65749fd"/>
  </p:notesMasterIdLst>
  <p:sldIdLst>
    <p:sldId xmlns:r="http://schemas.openxmlformats.org/officeDocument/2006/relationships" id="256" r:id="R79ce0c9b8b304024"/>
    <p:sldId xmlns:r="http://schemas.openxmlformats.org/officeDocument/2006/relationships" id="257" r:id="R7f9c8b8b14a54744"/>
    <p:sldId xmlns:r="http://schemas.openxmlformats.org/officeDocument/2006/relationships" id="258" r:id="R4ae7e029afbc4fbe"/>
    <p:sldId xmlns:r="http://schemas.openxmlformats.org/officeDocument/2006/relationships" id="259" r:id="R7fa5f50f60b74909"/>
    <p:sldId xmlns:r="http://schemas.openxmlformats.org/officeDocument/2006/relationships" id="260" r:id="R01e4b68efb6c4f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dde757d4fa4e40" /><Relationship Type="http://schemas.openxmlformats.org/officeDocument/2006/relationships/slideMaster" Target="/ppt/slideMasters/slideMaster1.xml" Id="Rafb8f8f476854768" /><Relationship Type="http://schemas.openxmlformats.org/officeDocument/2006/relationships/notesMaster" Target="/ppt/notesMasters/notesMaster1.xml" Id="Rfbc51a23b65749fd" /><Relationship Type="http://schemas.openxmlformats.org/officeDocument/2006/relationships/presProps" Target="/ppt/presProps.xml" Id="Raa91a28eb130466f" /><Relationship Type="http://schemas.openxmlformats.org/officeDocument/2006/relationships/tableStyles" Target="/ppt/tableStyles.xml" Id="R2c1f777de5c54d12" /><Relationship Type="http://schemas.openxmlformats.org/officeDocument/2006/relationships/slide" Target="/ppt/slides/slide1.xml" Id="R79ce0c9b8b304024" /><Relationship Type="http://schemas.openxmlformats.org/officeDocument/2006/relationships/slide" Target="/ppt/slides/slide2.xml" Id="R7f9c8b8b14a54744" /><Relationship Type="http://schemas.openxmlformats.org/officeDocument/2006/relationships/slide" Target="/ppt/slides/slide3.xml" Id="R4ae7e029afbc4fbe" /><Relationship Type="http://schemas.openxmlformats.org/officeDocument/2006/relationships/slide" Target="/ppt/slides/slide4.xml" Id="R7fa5f50f60b74909" /><Relationship Type="http://schemas.openxmlformats.org/officeDocument/2006/relationships/slide" Target="/ppt/slides/slide5.xml" Id="R01e4b68efb6c4f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997712849a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4273c1255d431c" /><Relationship Type="http://schemas.openxmlformats.org/officeDocument/2006/relationships/notesMaster" Target="/ppt/notesMasters/notesMaster1.xml" Id="R3e5047c7625c4a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9c9d80dcd247cd" /><Relationship Type="http://schemas.openxmlformats.org/officeDocument/2006/relationships/notesMaster" Target="/ppt/notesMasters/notesMaster1.xml" Id="Re7f70e948164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259d4fbfb24354" /><Relationship Type="http://schemas.openxmlformats.org/officeDocument/2006/relationships/notesMaster" Target="/ppt/notesMasters/notesMaster1.xml" Id="Rf13e2256355c4e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e35616449c4a7a" /><Relationship Type="http://schemas.openxmlformats.org/officeDocument/2006/relationships/notesMaster" Target="/ppt/notesMasters/notesMaster1.xml" Id="Rb4801a6cc6d942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42f9dfd2be4ae8" /><Relationship Type="http://schemas.openxmlformats.org/officeDocument/2006/relationships/notesMaster" Target="/ppt/notesMasters/notesMaster1.xml" Id="R94bd0bc4bfb24c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0:00–0:13 | Speaker: Abdulaziz</a:t>
            </a:r>
          </a:p>
          <a:p xmlns:a="http://schemas.openxmlformats.org/drawingml/2006/main">
            <a:r>
              <a:t/>
            </a:r>
          </a:p>
          <a:p xmlns:a="http://schemas.openxmlformats.org/drawingml/2006/main">
            <a:r>
              <a:t>AI agents can shop and call payment APIs. The unsolved step is control: did the agent follow the user’s exact instruction, and what happened when the payment result became unclear? Belay is that control layer.</a:t>
            </a:r>
          </a:p>
          <a:p xmlns:a="http://schemas.openxmlformats.org/drawingml/2006/main">
            <a:r>
              <a:t/>
            </a:r>
          </a:p>
          <a:p xmlns:a="http://schemas.openxmlformats.org/drawingml/2006/main">
            <a:r>
              <a:t>Team biographies were supplied by the user. UConn is the University of Connecticut: https://uconn.edu/about-us/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0:13–0:32 | Speaker: Amir Khan</a:t>
            </a:r>
          </a:p>
          <a:p xmlns:a="http://schemas.openxmlformats.org/drawingml/2006/main">
            <a:r>
              <a:t/>
            </a:r>
          </a:p>
          <a:p xmlns:a="http://schemas.openxmlformats.org/drawingml/2006/main">
            <a:r>
              <a:t>Three failures create losses: the AI misreads the payee or amount, broad permission becomes an unintended payment, and a timeout triggers a duplicate retry. This matters across 8.1 billion U.S. B2B ACH payments in 2025. Rails prove money moved, but not that the agent followed the instruction.</a:t>
            </a:r>
          </a:p>
          <a:p xmlns:a="http://schemas.openxmlformats.org/drawingml/2006/main">
            <a:r>
              <a:t/>
            </a:r>
          </a:p>
          <a:p xmlns:a="http://schemas.openxmlformats.org/drawingml/2006/main">
            <a:r>
              <a:t>Source: Nacha reports 8.08 billion B2B ACH payments valued at $63.11 trillion in 2025. This is existing payment flow, not Belay TAM. https://www.nacha.org/content/ach-network-volume-and-value-statistics</a:t>
            </a:r>
          </a:p>
          <a:p xmlns:a="http://schemas.openxmlformats.org/drawingml/2006/main">
            <a:r>
              <a:t>Additional market context, not shown: U.S. Census reports $340.2 billion in seasonally adjusted U.S. retail e-commerce sales in Q2 2026. https://www.census.gov/retail/ecommerce.html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0:32–1:03 | Speaker: Abdulaziz | Prefer the live browser; this slide is the static fallback.</a:t>
            </a:r>
          </a:p>
          <a:p xmlns:a="http://schemas.openxmlformats.org/drawingml/2006/main">
            <a:r>
              <a:t/>
            </a:r>
          </a:p>
          <a:p xmlns:a="http://schemas.openxmlformats.org/drawingml/2006/main">
            <a:r>
              <a:t>Here is the simulator. I ask Belay to pay invoice INV-1042 for $1,250. It builds an editable plan and leaves unknown fields blank. I approve the recipient, amount, reference, and limit. Deterministic checks enforce one operation ID, simulate USDC settlement with USD delivery, and link instruction, approval, and result in one receipt. If a response is lost, Belay checks that operation before any retry.</a:t>
            </a:r>
          </a:p>
          <a:p xmlns:a="http://schemas.openxmlformats.org/drawingml/2006/main">
            <a:r>
              <a:t/>
            </a:r>
          </a:p>
          <a:p xmlns:a="http://schemas.openxmlformats.org/drawingml/2006/main">
            <a:r>
              <a:t>Demo boundary: the browser, HTTP API, persisted state, revision checks, and ledger run locally. The request extractor, signature, wallet, USDC hold, conversion, USD payout, and payee confirmation are fictional fixtures. The generalized mission UI simulates the normal path. The legacy purchase API contains the implemented lost-payout investigation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1:03–1:27 | Speaker: Amir Khan</a:t>
            </a:r>
          </a:p>
          <a:p xmlns:a="http://schemas.openxmlformats.org/drawingml/2006/main">
            <a:r>
              <a:t/>
            </a:r>
          </a:p>
          <a:p xmlns:a="http://schemas.openxmlformats.org/drawingml/2006/main">
            <a:r>
              <a:t>We sell to AI platforms, fintech teams, and financial institutions through subscription and fixed operation fees, with no Belay percentage take rate. Stripe, Google AP2, and payment networks are opening the rails. Belay controls execution and recovery. We are raising $1.5 million for regulated integrations, independent security review, and three design-partner pilots.</a:t>
            </a:r>
          </a:p>
          <a:p xmlns:a="http://schemas.openxmlformats.org/drawingml/2006/main">
            <a:r>
              <a:t/>
            </a:r>
          </a:p>
          <a:p xmlns:a="http://schemas.openxmlformats.org/drawingml/2006/main">
            <a:r>
              <a:t>Illustrative economics, not traction: $24,000 annual platform fee plus 50,000 operations at $0.25 gives $36,500 annual revenue per customer. Modeled direct cost is $250 per month plus $0.05 per operation, or $5,500 per year, producing a target gross margin of 84.9%. At 100 customers, annual revenue would be $3.65 million. External gas, network, FX, conversion, and payout fees pass through.</a:t>
            </a:r>
          </a:p>
          <a:p xmlns:a="http://schemas.openxmlformats.org/drawingml/2006/main">
            <a:r>
              <a:t/>
            </a:r>
          </a:p>
          <a:p xmlns:a="http://schemas.openxmlformats.org/drawingml/2006/main">
            <a:r>
              <a:t>Sources:</a:t>
            </a:r>
          </a:p>
          <a:p xmlns:a="http://schemas.openxmlformats.org/drawingml/2006/main">
            <a:r>
              <a:t>Google AP2: https://cloud.google.com/blog/products/ai-machine-learning/announcing-agents-to-payments-ap2-protocol</a:t>
            </a:r>
          </a:p>
          <a:p xmlns:a="http://schemas.openxmlformats.org/drawingml/2006/main">
            <a:r>
              <a:t>Stripe Agentic Commerce: https://docs.stripe.com/agentic-commerce</a:t>
            </a:r>
          </a:p>
          <a:p xmlns:a="http://schemas.openxmlformats.org/drawingml/2006/main">
            <a:r>
              <a:t>Visa Intelligent Commerce: https://usa.visa.com/about-visa/newsroom/press-releases.releaseId.22276.html</a:t>
            </a:r>
          </a:p>
          <a:p xmlns:a="http://schemas.openxmlformats.org/drawingml/2006/main">
            <a:r>
              <a:t>Mastercard Agent Pay: https://newsroom.mastercard.com/news/press/2025/april/mastercard-unveils-agent-pay-pioneering-agentic-payments-technology-to-power-commerce-in-the-age-of-ai/</a:t>
            </a:r>
          </a:p>
          <a:p xmlns:a="http://schemas.openxmlformats.org/drawingml/2006/main">
            <a:r>
              <a:t/>
            </a:r>
          </a:p>
          <a:p xmlns:a="http://schemas.openxmlformats.org/drawingml/2006/main">
            <a:r>
              <a:t>Positioning: AP2 defines a mandate language. Payment providers supply credentials and rails. Belay enforces one controlled, recoverable payment operation and links its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1:27–1:30 | Hold for three seconds. No speech. Keep the slide blank.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cb03e4e7de44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4e1cacc8b74312" /><Relationship Type="http://schemas.openxmlformats.org/officeDocument/2006/relationships/slideLayout" Target="/ppt/slideLayouts/slideLayout1.xml" Id="R22d6f1760e8b4c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d6f1760e8b4c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6dafe3f9e64439" /><Relationship Type="http://schemas.openxmlformats.org/officeDocument/2006/relationships/image" Target="/ppt/media/image.png" Id="Re39cdaf07d024e5d" /><Relationship Type="http://schemas.openxmlformats.org/officeDocument/2006/relationships/notesSlide" Target="/ppt/notesSlides/notesSlide1.xml" Id="R13e272541c7f44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ce84e2395f4f99" /><Relationship Type="http://schemas.openxmlformats.org/officeDocument/2006/relationships/notesSlide" Target="/ppt/notesSlides/notesSlide2.xml" Id="Ra3ce10bc7b5748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250f1545de4aa7" /><Relationship Type="http://schemas.openxmlformats.org/officeDocument/2006/relationships/image" Target="/ppt/media/image2.png" Id="R7d61343cc2684d35" /><Relationship Type="http://schemas.openxmlformats.org/officeDocument/2006/relationships/image" Target="/ppt/media/image3.png" Id="Rd2c161eaffa34133" /><Relationship Type="http://schemas.openxmlformats.org/officeDocument/2006/relationships/notesSlide" Target="/ppt/notesSlides/notesSlide3.xml" Id="Re3af40ba5aa142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e781102e1948ba" /><Relationship Type="http://schemas.openxmlformats.org/officeDocument/2006/relationships/notesSlide" Target="/ppt/notesSlides/notesSlide4.xml" Id="Rf404cf600d4442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bfe7e94694434a" /><Relationship Type="http://schemas.openxmlformats.org/officeDocument/2006/relationships/notesSlide" Target="/ppt/notesSlides/notesSlide5.xml" Id="Rc2c4c27f988b4b6e" /></Relationships>
</file>

<file path=ppt/slides/slide1.xml><?xml version="1.0" encoding="utf-8"?>
<p:sld xmlns:p="http://schemas.openxmlformats.org/presentationml/2006/main">
  <p:cSld>
    <p:bg>
      <p:bgPr>
        <a:solidFill xmlns:a="http://schemas.openxmlformats.org/drawingml/2006/main">
          <a:srgbClr val="10162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B362CAF-96F0-42EB-9B9B-BC7E9CD2565C}"/>
              </a:ext>
            </a:extLst>
          </p:cNvPr>
          <p:cNvSpPr>
            <a:spLocks xmlns:a="http://schemas.openxmlformats.org/drawingml/2006/main" noGrp="1"/>
          </p:cNvSpPr>
          <p:nvPr/>
        </p:nvSpPr>
        <p:spPr>
          <a:xfrm xmlns:a="http://schemas.openxmlformats.org/drawingml/2006/main">
            <a:off x="552450" y="419100"/>
            <a:ext cx="323850" cy="323850"/>
          </a:xfrm>
          <a:prstGeom xmlns:a="http://schemas.openxmlformats.org/drawingml/2006/main" prst="roundRect">
            <a:avLst>
              <a:gd name="adj" fmla="val 26471"/>
            </a:avLst>
          </a:prstGeom>
          <a:solidFill xmlns:a="http://schemas.openxmlformats.org/drawingml/2006/main">
            <a:srgbClr val="D8FF55"/>
          </a:solidFill>
          <a:ln xmlns:a="http://schemas.openxmlformats.org/drawingml/2006/main" w="0">
            <a:solidFill>
              <a:srgbClr val="D8FF55"/>
            </a:solidFill>
            <a:prstDash val="solid"/>
          </a:ln>
        </p:spPr>
      </p:sp>
      <p:sp>
        <p:nvSpPr>
          <p:cNvPr id="2" name="">
            <a:extLst xmlns:a="http://schemas.openxmlformats.org/drawingml/2006/main">
              <a:ext uri="{FF2B5EF4-FFF2-40B4-BE49-F238E27FC236}">
                <a16:creationId xmlns:a16="http://schemas.microsoft.com/office/drawing/2014/main" id="{95D7537B-C9B5-4FF7-AD1F-9C5AF9CD4802}"/>
              </a:ext>
            </a:extLst>
          </p:cNvPr>
          <p:cNvSpPr>
            <a:spLocks xmlns:a="http://schemas.openxmlformats.org/drawingml/2006/main" noGrp="1"/>
          </p:cNvSpPr>
          <p:nvPr/>
        </p:nvSpPr>
        <p:spPr>
          <a:xfrm xmlns:a="http://schemas.openxmlformats.org/drawingml/2006/main">
            <a:off x="552450" y="419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101629"/>
                </a:solidFill>
                <a:latin typeface="Arial"/>
                <a:ea typeface="Arial"/>
                <a:cs typeface="Arial"/>
              </a:defRPr>
            </a:pPr>
            <a:r>
              <a:rPr sz="1350" b="1" i="0">
                <a:solidFill>
                  <a:srgbClr val="101629"/>
                </a:solidFill>
                <a:latin typeface="Arial"/>
                <a:ea typeface="Arial"/>
                <a:cs typeface="Arial"/>
              </a:rPr>
              <a:t>B</a:t>
            </a:r>
          </a:p>
        </p:txBody>
      </p:sp>
      <p:sp>
        <p:nvSpPr>
          <p:cNvPr id="3" name="">
            <a:extLst xmlns:a="http://schemas.openxmlformats.org/drawingml/2006/main">
              <a:ext uri="{FF2B5EF4-FFF2-40B4-BE49-F238E27FC236}">
                <a16:creationId xmlns:a16="http://schemas.microsoft.com/office/drawing/2014/main" id="{99AFB104-63DA-4335-91AD-6D9658EF0F92}"/>
              </a:ext>
            </a:extLst>
          </p:cNvPr>
          <p:cNvSpPr>
            <a:spLocks xmlns:a="http://schemas.openxmlformats.org/drawingml/2006/main" noGrp="1"/>
          </p:cNvSpPr>
          <p:nvPr/>
        </p:nvSpPr>
        <p:spPr>
          <a:xfrm xmlns:a="http://schemas.openxmlformats.org/drawingml/2006/main">
            <a:off x="981075" y="4095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belay</a:t>
            </a:r>
          </a:p>
        </p:txBody>
      </p:sp>
      <p:sp>
        <p:nvSpPr>
          <p:cNvPr id="4" name="">
            <a:extLst xmlns:a="http://schemas.openxmlformats.org/drawingml/2006/main">
              <a:ext uri="{FF2B5EF4-FFF2-40B4-BE49-F238E27FC236}">
                <a16:creationId xmlns:a16="http://schemas.microsoft.com/office/drawing/2014/main" id="{6C190865-20FA-4E95-9111-920F85F5B7C6}"/>
              </a:ext>
            </a:extLst>
          </p:cNvPr>
          <p:cNvSpPr>
            <a:spLocks xmlns:a="http://schemas.openxmlformats.org/drawingml/2006/main" noGrp="1"/>
          </p:cNvSpPr>
          <p:nvPr/>
        </p:nvSpPr>
        <p:spPr>
          <a:xfrm xmlns:a="http://schemas.openxmlformats.org/drawingml/2006/main">
            <a:off x="552450" y="9810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D8FF55"/>
                </a:solidFill>
                <a:latin typeface="Arial"/>
                <a:ea typeface="Arial"/>
                <a:cs typeface="Arial"/>
              </a:defRPr>
            </a:pPr>
            <a:r>
              <a:rPr sz="975" b="1" i="0">
                <a:solidFill>
                  <a:srgbClr val="D8FF55"/>
                </a:solidFill>
                <a:latin typeface="Arial"/>
                <a:ea typeface="Arial"/>
                <a:cs typeface="Arial"/>
              </a:rPr>
              <a:t>B2B INFRASTRUCTURE FOR AGENT PAYMENTS</a:t>
            </a:r>
          </a:p>
        </p:txBody>
      </p:sp>
      <p:sp>
        <p:nvSpPr>
          <p:cNvPr id="5" name="">
            <a:extLst xmlns:a="http://schemas.openxmlformats.org/drawingml/2006/main">
              <a:ext uri="{FF2B5EF4-FFF2-40B4-BE49-F238E27FC236}">
                <a16:creationId xmlns:a16="http://schemas.microsoft.com/office/drawing/2014/main" id="{1E09E6EC-97B8-49D4-9B4D-42E55EBCECB6}"/>
              </a:ext>
            </a:extLst>
          </p:cNvPr>
          <p:cNvSpPr>
            <a:spLocks xmlns:a="http://schemas.openxmlformats.org/drawingml/2006/main" noGrp="1"/>
          </p:cNvSpPr>
          <p:nvPr/>
        </p:nvSpPr>
        <p:spPr>
          <a:xfrm xmlns:a="http://schemas.openxmlformats.org/drawingml/2006/main">
            <a:off x="552450" y="1295400"/>
            <a:ext cx="609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825" b="0" i="0">
                <a:solidFill>
                  <a:srgbClr val="FFFFFF"/>
                </a:solidFill>
                <a:latin typeface="Georgia"/>
                <a:ea typeface="Georgia"/>
                <a:cs typeface="Georgia"/>
              </a:defRPr>
            </a:pPr>
            <a:r>
              <a:rPr sz="3825" b="0" i="0">
                <a:solidFill>
                  <a:srgbClr val="FFFFFF"/>
                </a:solidFill>
                <a:latin typeface="Georgia"/>
                <a:ea typeface="Georgia"/>
                <a:cs typeface="Georgia"/>
              </a:rPr>
              <a:t>The control layer between</a:t>
            </a:r>
          </a:p>
        </p:txBody>
      </p:sp>
      <p:sp>
        <p:nvSpPr>
          <p:cNvPr id="6" name="">
            <a:extLst xmlns:a="http://schemas.openxmlformats.org/drawingml/2006/main">
              <a:ext uri="{FF2B5EF4-FFF2-40B4-BE49-F238E27FC236}">
                <a16:creationId xmlns:a16="http://schemas.microsoft.com/office/drawing/2014/main" id="{67DB3E3F-BD4F-4B40-9FB1-AAA3359BAA07}"/>
              </a:ext>
            </a:extLst>
          </p:cNvPr>
          <p:cNvSpPr>
            <a:spLocks xmlns:a="http://schemas.openxmlformats.org/drawingml/2006/main" noGrp="1"/>
          </p:cNvSpPr>
          <p:nvPr/>
        </p:nvSpPr>
        <p:spPr>
          <a:xfrm xmlns:a="http://schemas.openxmlformats.org/drawingml/2006/main">
            <a:off x="552450" y="194310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4350" b="0" i="0">
                <a:solidFill>
                  <a:srgbClr val="D8FF55"/>
                </a:solidFill>
                <a:latin typeface="Georgia"/>
                <a:ea typeface="Georgia"/>
                <a:cs typeface="Georgia"/>
              </a:defRPr>
            </a:pPr>
            <a:r>
              <a:rPr sz="4350" b="0" i="0">
                <a:solidFill>
                  <a:srgbClr val="D8FF55"/>
                </a:solidFill>
                <a:latin typeface="Georgia"/>
                <a:ea typeface="Georgia"/>
                <a:cs typeface="Georgia"/>
              </a:rPr>
              <a:t>AI intent and money</a:t>
            </a:r>
          </a:p>
        </p:txBody>
      </p:sp>
      <p:sp>
        <p:nvSpPr>
          <p:cNvPr id="7" name="">
            <a:extLst xmlns:a="http://schemas.openxmlformats.org/drawingml/2006/main">
              <a:ext uri="{FF2B5EF4-FFF2-40B4-BE49-F238E27FC236}">
                <a16:creationId xmlns:a16="http://schemas.microsoft.com/office/drawing/2014/main" id="{57C2AFCD-8702-4B96-9A79-4361C3AEFBE4}"/>
              </a:ext>
            </a:extLst>
          </p:cNvPr>
          <p:cNvSpPr>
            <a:spLocks xmlns:a="http://schemas.openxmlformats.org/drawingml/2006/main" noGrp="1"/>
          </p:cNvSpPr>
          <p:nvPr/>
        </p:nvSpPr>
        <p:spPr>
          <a:xfrm xmlns:a="http://schemas.openxmlformats.org/drawingml/2006/main">
            <a:off x="571500" y="2867025"/>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0" i="0">
                <a:solidFill>
                  <a:srgbClr val="D0D6E5"/>
                </a:solidFill>
                <a:latin typeface="Arial"/>
                <a:ea typeface="Arial"/>
                <a:cs typeface="Arial"/>
              </a:defRPr>
            </a:pPr>
            <a:r>
              <a:rPr sz="1725" b="0" i="0">
                <a:solidFill>
                  <a:srgbClr val="D0D6E5"/>
                </a:solidFill>
                <a:latin typeface="Arial"/>
                <a:ea typeface="Arial"/>
                <a:cs typeface="Arial"/>
              </a:rPr>
              <a:t>Belay turns an AI payment request into exact authority, one controlled execution, and linked proof.</a:t>
            </a:r>
          </a:p>
        </p:txBody>
      </p:sp>
      <p:sp>
        <p:nvSpPr>
          <p:cNvPr id="8" name="">
            <a:extLst xmlns:a="http://schemas.openxmlformats.org/drawingml/2006/main">
              <a:ext uri="{FF2B5EF4-FFF2-40B4-BE49-F238E27FC236}">
                <a16:creationId xmlns:a16="http://schemas.microsoft.com/office/drawing/2014/main" id="{DF95893A-8385-4E0A-BD40-8A8CEE5A8C64}"/>
              </a:ext>
            </a:extLst>
          </p:cNvPr>
          <p:cNvSpPr>
            <a:spLocks xmlns:a="http://schemas.openxmlformats.org/drawingml/2006/main" noGrp="1"/>
          </p:cNvSpPr>
          <p:nvPr/>
        </p:nvSpPr>
        <p:spPr>
          <a:xfrm xmlns:a="http://schemas.openxmlformats.org/drawingml/2006/main">
            <a:off x="571500" y="36766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8F9AB4"/>
                </a:solidFill>
                <a:latin typeface="Arial"/>
                <a:ea typeface="Arial"/>
                <a:cs typeface="Arial"/>
              </a:defRPr>
            </a:pPr>
            <a:r>
              <a:rPr sz="975" b="1" i="0">
                <a:solidFill>
                  <a:srgbClr val="8F9AB4"/>
                </a:solidFill>
                <a:latin typeface="Arial"/>
                <a:ea typeface="Arial"/>
                <a:cs typeface="Arial"/>
              </a:rPr>
              <a:t>BUILT FOR</a:t>
            </a:r>
          </a:p>
        </p:txBody>
      </p:sp>
      <p:sp>
        <p:nvSpPr>
          <p:cNvPr id="9" name="">
            <a:extLst xmlns:a="http://schemas.openxmlformats.org/drawingml/2006/main">
              <a:ext uri="{FF2B5EF4-FFF2-40B4-BE49-F238E27FC236}">
                <a16:creationId xmlns:a16="http://schemas.microsoft.com/office/drawing/2014/main" id="{8BDB8F1D-EE0B-4978-956B-F962268A972F}"/>
              </a:ext>
            </a:extLst>
          </p:cNvPr>
          <p:cNvSpPr>
            <a:spLocks xmlns:a="http://schemas.openxmlformats.org/drawingml/2006/main" noGrp="1"/>
          </p:cNvSpPr>
          <p:nvPr/>
        </p:nvSpPr>
        <p:spPr>
          <a:xfrm xmlns:a="http://schemas.openxmlformats.org/drawingml/2006/main">
            <a:off x="571500" y="3914775"/>
            <a:ext cx="542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AI platforms, fintech operations teams, and financial institutions</a:t>
            </a:r>
          </a:p>
        </p:txBody>
      </p:sp>
      <p:sp>
        <p:nvSpPr>
          <p:cNvPr id="10" name="">
            <a:extLst xmlns:a="http://schemas.openxmlformats.org/drawingml/2006/main">
              <a:ext uri="{FF2B5EF4-FFF2-40B4-BE49-F238E27FC236}">
                <a16:creationId xmlns:a16="http://schemas.microsoft.com/office/drawing/2014/main" id="{B010DECF-3C85-4480-88F4-15D483543476}"/>
              </a:ext>
            </a:extLst>
          </p:cNvPr>
          <p:cNvSpPr>
            <a:spLocks xmlns:a="http://schemas.openxmlformats.org/drawingml/2006/main" noGrp="1"/>
          </p:cNvSpPr>
          <p:nvPr/>
        </p:nvSpPr>
        <p:spPr>
          <a:xfrm xmlns:a="http://schemas.openxmlformats.org/drawingml/2006/main">
            <a:off x="6762750" y="1114425"/>
            <a:ext cx="4857750" cy="2457450"/>
          </a:xfrm>
          <a:prstGeom xmlns:a="http://schemas.openxmlformats.org/drawingml/2006/main" prst="roundRect">
            <a:avLst>
              <a:gd name="adj" fmla="val 8527"/>
            </a:avLst>
          </a:prstGeom>
          <a:solidFill xmlns:a="http://schemas.openxmlformats.org/drawingml/2006/main">
            <a:srgbClr val="18213A"/>
          </a:solidFill>
          <a:ln xmlns:a="http://schemas.openxmlformats.org/drawingml/2006/main" w="19050">
            <a:solidFill>
              <a:srgbClr val="222D4B"/>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39cdaf07d024e5d"/>
          <a:srcRect xmlns:a="http://schemas.openxmlformats.org/drawingml/2006/main" l="216" t="0" r="216" b="0"/>
          <a:stretch xmlns:a="http://schemas.openxmlformats.org/drawingml/2006/main">
            <a:fillRect l="0" t="0" r="0" b="0"/>
          </a:stretch>
        </p:blipFill>
        <p:spPr>
          <a:xfrm xmlns:a="http://schemas.openxmlformats.org/drawingml/2006/main">
            <a:off x="6934200" y="1485900"/>
            <a:ext cx="4514850" cy="1276350"/>
          </a:xfrm>
          <a:prstGeom xmlns:a="http://schemas.openxmlformats.org/drawingml/2006/main" prst="roundRect">
            <a:avLst>
              <a:gd name="adj" fmla="val 13433"/>
            </a:avLst>
          </a:prstGeom>
        </p:spPr>
      </p:pic>
      <p:sp>
        <p:nvSpPr>
          <p:cNvPr id="12" name="">
            <a:extLst xmlns:a="http://schemas.openxmlformats.org/drawingml/2006/main">
              <a:ext uri="{FF2B5EF4-FFF2-40B4-BE49-F238E27FC236}">
                <a16:creationId xmlns:a16="http://schemas.microsoft.com/office/drawing/2014/main" id="{BB8658C4-631F-4DE4-96EE-A3F6BB3C2339}"/>
              </a:ext>
            </a:extLst>
          </p:cNvPr>
          <p:cNvSpPr>
            <a:spLocks xmlns:a="http://schemas.openxmlformats.org/drawingml/2006/main" noGrp="1"/>
          </p:cNvSpPr>
          <p:nvPr/>
        </p:nvSpPr>
        <p:spPr>
          <a:xfrm xmlns:a="http://schemas.openxmlformats.org/drawingml/2006/main">
            <a:off x="6943725" y="12287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D8FF55"/>
                </a:solidFill>
                <a:latin typeface="Arial"/>
                <a:ea typeface="Arial"/>
                <a:cs typeface="Arial"/>
              </a:defRPr>
            </a:pPr>
            <a:r>
              <a:rPr sz="975" b="1" i="0">
                <a:solidFill>
                  <a:srgbClr val="D8FF55"/>
                </a:solidFill>
                <a:latin typeface="Arial"/>
                <a:ea typeface="Arial"/>
                <a:cs typeface="Arial"/>
              </a:rPr>
              <a:t>ONE CONTROL CONTRACT</a:t>
            </a:r>
          </a:p>
        </p:txBody>
      </p:sp>
      <p:sp>
        <p:nvSpPr>
          <p:cNvPr id="13" name="">
            <a:extLst xmlns:a="http://schemas.openxmlformats.org/drawingml/2006/main">
              <a:ext uri="{FF2B5EF4-FFF2-40B4-BE49-F238E27FC236}">
                <a16:creationId xmlns:a16="http://schemas.microsoft.com/office/drawing/2014/main" id="{B76C6570-0718-48AA-AA53-D379D981411C}"/>
              </a:ext>
            </a:extLst>
          </p:cNvPr>
          <p:cNvSpPr>
            <a:spLocks xmlns:a="http://schemas.openxmlformats.org/drawingml/2006/main" noGrp="1"/>
          </p:cNvSpPr>
          <p:nvPr/>
        </p:nvSpPr>
        <p:spPr>
          <a:xfrm xmlns:a="http://schemas.openxmlformats.org/drawingml/2006/main">
            <a:off x="6962775" y="292417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One bounded payment with one linked record</a:t>
            </a:r>
          </a:p>
        </p:txBody>
      </p:sp>
      <p:sp>
        <p:nvSpPr>
          <p:cNvPr id="14" name="">
            <a:extLst xmlns:a="http://schemas.openxmlformats.org/drawingml/2006/main">
              <a:ext uri="{FF2B5EF4-FFF2-40B4-BE49-F238E27FC236}">
                <a16:creationId xmlns:a16="http://schemas.microsoft.com/office/drawing/2014/main" id="{A8C91CA5-8C3A-4284-982B-83A334C0D556}"/>
              </a:ext>
            </a:extLst>
          </p:cNvPr>
          <p:cNvSpPr>
            <a:spLocks xmlns:a="http://schemas.openxmlformats.org/drawingml/2006/main" noGrp="1"/>
          </p:cNvSpPr>
          <p:nvPr/>
        </p:nvSpPr>
        <p:spPr>
          <a:xfrm xmlns:a="http://schemas.openxmlformats.org/drawingml/2006/main">
            <a:off x="0" y="4781550"/>
            <a:ext cx="12192000" cy="2076450"/>
          </a:xfrm>
          <a:prstGeom xmlns:a="http://schemas.openxmlformats.org/drawingml/2006/main" prst="rect">
            <a:avLst/>
          </a:prstGeom>
          <a:solidFill xmlns:a="http://schemas.openxmlformats.org/drawingml/2006/main">
            <a:srgbClr val="18213A"/>
          </a:solidFill>
          <a:ln xmlns:a="http://schemas.openxmlformats.org/drawingml/2006/main" w="0">
            <a:solidFill>
              <a:srgbClr val="18213A"/>
            </a:solidFill>
            <a:prstDash val="solid"/>
          </a:ln>
        </p:spPr>
      </p:sp>
      <p:sp>
        <p:nvSpPr>
          <p:cNvPr id="15" name="">
            <a:extLst xmlns:a="http://schemas.openxmlformats.org/drawingml/2006/main">
              <a:ext uri="{FF2B5EF4-FFF2-40B4-BE49-F238E27FC236}">
                <a16:creationId xmlns:a16="http://schemas.microsoft.com/office/drawing/2014/main" id="{7EC6ED82-D76D-4B6A-9378-1DD244FD032E}"/>
              </a:ext>
            </a:extLst>
          </p:cNvPr>
          <p:cNvSpPr>
            <a:spLocks xmlns:a="http://schemas.openxmlformats.org/drawingml/2006/main" noGrp="1"/>
          </p:cNvSpPr>
          <p:nvPr/>
        </p:nvSpPr>
        <p:spPr>
          <a:xfrm xmlns:a="http://schemas.openxmlformats.org/drawingml/2006/main">
            <a:off x="552450" y="50101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D8FF55"/>
                </a:solidFill>
                <a:latin typeface="Arial"/>
                <a:ea typeface="Arial"/>
                <a:cs typeface="Arial"/>
              </a:defRPr>
            </a:pPr>
            <a:r>
              <a:rPr sz="975" b="1" i="0">
                <a:solidFill>
                  <a:srgbClr val="D8FF55"/>
                </a:solidFill>
                <a:latin typeface="Arial"/>
                <a:ea typeface="Arial"/>
                <a:cs typeface="Arial"/>
              </a:rPr>
              <a:t>TEAM</a:t>
            </a:r>
          </a:p>
        </p:txBody>
      </p:sp>
      <p:sp>
        <p:nvSpPr>
          <p:cNvPr id="16" name="">
            <a:extLst xmlns:a="http://schemas.openxmlformats.org/drawingml/2006/main">
              <a:ext uri="{FF2B5EF4-FFF2-40B4-BE49-F238E27FC236}">
                <a16:creationId xmlns:a16="http://schemas.microsoft.com/office/drawing/2014/main" id="{DED9B497-5FC9-4559-A69F-8F7C38FA2F70}"/>
              </a:ext>
            </a:extLst>
          </p:cNvPr>
          <p:cNvSpPr>
            <a:spLocks xmlns:a="http://schemas.openxmlformats.org/drawingml/2006/main" noGrp="1"/>
          </p:cNvSpPr>
          <p:nvPr/>
        </p:nvSpPr>
        <p:spPr>
          <a:xfrm xmlns:a="http://schemas.openxmlformats.org/drawingml/2006/main">
            <a:off x="552450" y="5381625"/>
            <a:ext cx="2524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0" i="0">
                <a:solidFill>
                  <a:srgbClr val="FFFFFF"/>
                </a:solidFill>
                <a:latin typeface="Georgia"/>
                <a:ea typeface="Georgia"/>
                <a:cs typeface="Georgia"/>
              </a:defRPr>
            </a:pPr>
            <a:r>
              <a:rPr sz="1875" b="0" i="0">
                <a:solidFill>
                  <a:srgbClr val="FFFFFF"/>
                </a:solidFill>
                <a:latin typeface="Georgia"/>
                <a:ea typeface="Georgia"/>
                <a:cs typeface="Georgia"/>
              </a:rPr>
              <a:t>Abdulaziz</a:t>
            </a:r>
          </a:p>
        </p:txBody>
      </p:sp>
      <p:sp>
        <p:nvSpPr>
          <p:cNvPr id="17" name="">
            <a:extLst xmlns:a="http://schemas.openxmlformats.org/drawingml/2006/main">
              <a:ext uri="{FF2B5EF4-FFF2-40B4-BE49-F238E27FC236}">
                <a16:creationId xmlns:a16="http://schemas.microsoft.com/office/drawing/2014/main" id="{2CDDF80B-5C6D-4F6B-81F4-66D1E07B012C}"/>
              </a:ext>
            </a:extLst>
          </p:cNvPr>
          <p:cNvSpPr>
            <a:spLocks xmlns:a="http://schemas.openxmlformats.org/drawingml/2006/main" noGrp="1"/>
          </p:cNvSpPr>
          <p:nvPr/>
        </p:nvSpPr>
        <p:spPr>
          <a:xfrm xmlns:a="http://schemas.openxmlformats.org/drawingml/2006/main">
            <a:off x="552450" y="5753100"/>
            <a:ext cx="2476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Fintech startup founder</a:t>
            </a:r>
          </a:p>
        </p:txBody>
      </p:sp>
      <p:sp>
        <p:nvSpPr>
          <p:cNvPr id="18" name="">
            <a:extLst xmlns:a="http://schemas.openxmlformats.org/drawingml/2006/main">
              <a:ext uri="{FF2B5EF4-FFF2-40B4-BE49-F238E27FC236}">
                <a16:creationId xmlns:a16="http://schemas.microsoft.com/office/drawing/2014/main" id="{7CB56EB2-D35A-4BA9-A022-DEF499839C79}"/>
              </a:ext>
            </a:extLst>
          </p:cNvPr>
          <p:cNvSpPr>
            <a:spLocks xmlns:a="http://schemas.openxmlformats.org/drawingml/2006/main" noGrp="1"/>
          </p:cNvSpPr>
          <p:nvPr/>
        </p:nvSpPr>
        <p:spPr>
          <a:xfrm xmlns:a="http://schemas.openxmlformats.org/drawingml/2006/main">
            <a:off x="3228975" y="5381625"/>
            <a:ext cx="9525" cy="971550"/>
          </a:xfrm>
          <a:prstGeom xmlns:a="http://schemas.openxmlformats.org/drawingml/2006/main" prst="rect">
            <a:avLst/>
          </a:prstGeom>
          <a:solidFill xmlns:a="http://schemas.openxmlformats.org/drawingml/2006/main">
            <a:srgbClr val="222D4B"/>
          </a:solidFill>
          <a:ln xmlns:a="http://schemas.openxmlformats.org/drawingml/2006/main" w="0">
            <a:solidFill>
              <a:srgbClr val="222D4B"/>
            </a:solidFill>
            <a:prstDash val="solid"/>
          </a:ln>
        </p:spPr>
      </p:sp>
      <p:sp>
        <p:nvSpPr>
          <p:cNvPr id="19" name="">
            <a:extLst xmlns:a="http://schemas.openxmlformats.org/drawingml/2006/main">
              <a:ext uri="{FF2B5EF4-FFF2-40B4-BE49-F238E27FC236}">
                <a16:creationId xmlns:a16="http://schemas.microsoft.com/office/drawing/2014/main" id="{16F7C79F-E848-42E0-8279-8EDF24C51392}"/>
              </a:ext>
            </a:extLst>
          </p:cNvPr>
          <p:cNvSpPr>
            <a:spLocks xmlns:a="http://schemas.openxmlformats.org/drawingml/2006/main" noGrp="1"/>
          </p:cNvSpPr>
          <p:nvPr/>
        </p:nvSpPr>
        <p:spPr>
          <a:xfrm xmlns:a="http://schemas.openxmlformats.org/drawingml/2006/main">
            <a:off x="3438525" y="5381625"/>
            <a:ext cx="2524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0" i="0">
                <a:solidFill>
                  <a:srgbClr val="FFFFFF"/>
                </a:solidFill>
                <a:latin typeface="Georgia"/>
                <a:ea typeface="Georgia"/>
                <a:cs typeface="Georgia"/>
              </a:defRPr>
            </a:pPr>
            <a:r>
              <a:rPr sz="1875" b="0" i="0">
                <a:solidFill>
                  <a:srgbClr val="FFFFFF"/>
                </a:solidFill>
                <a:latin typeface="Georgia"/>
                <a:ea typeface="Georgia"/>
                <a:cs typeface="Georgia"/>
              </a:rPr>
              <a:t>Amir Khan</a:t>
            </a:r>
          </a:p>
        </p:txBody>
      </p:sp>
      <p:sp>
        <p:nvSpPr>
          <p:cNvPr id="20" name="">
            <a:extLst xmlns:a="http://schemas.openxmlformats.org/drawingml/2006/main">
              <a:ext uri="{FF2B5EF4-FFF2-40B4-BE49-F238E27FC236}">
                <a16:creationId xmlns:a16="http://schemas.microsoft.com/office/drawing/2014/main" id="{FD30C5E8-6726-4E1E-AB86-EF81A8DA8A28}"/>
              </a:ext>
            </a:extLst>
          </p:cNvPr>
          <p:cNvSpPr>
            <a:spLocks xmlns:a="http://schemas.openxmlformats.org/drawingml/2006/main" noGrp="1"/>
          </p:cNvSpPr>
          <p:nvPr/>
        </p:nvSpPr>
        <p:spPr>
          <a:xfrm xmlns:a="http://schemas.openxmlformats.org/drawingml/2006/main">
            <a:off x="3438525" y="5753100"/>
            <a:ext cx="2476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Computer Science sophomore</a:t>
            </a:r>
          </a:p>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University of Connecticut</a:t>
            </a:r>
          </a:p>
        </p:txBody>
      </p:sp>
      <p:sp>
        <p:nvSpPr>
          <p:cNvPr id="21" name="">
            <a:extLst xmlns:a="http://schemas.openxmlformats.org/drawingml/2006/main">
              <a:ext uri="{FF2B5EF4-FFF2-40B4-BE49-F238E27FC236}">
                <a16:creationId xmlns:a16="http://schemas.microsoft.com/office/drawing/2014/main" id="{87442B72-FB14-47AB-B8B8-D7A8CEFC2BD3}"/>
              </a:ext>
            </a:extLst>
          </p:cNvPr>
          <p:cNvSpPr>
            <a:spLocks xmlns:a="http://schemas.openxmlformats.org/drawingml/2006/main" noGrp="1"/>
          </p:cNvSpPr>
          <p:nvPr/>
        </p:nvSpPr>
        <p:spPr>
          <a:xfrm xmlns:a="http://schemas.openxmlformats.org/drawingml/2006/main">
            <a:off x="6115050" y="5381625"/>
            <a:ext cx="9525" cy="971550"/>
          </a:xfrm>
          <a:prstGeom xmlns:a="http://schemas.openxmlformats.org/drawingml/2006/main" prst="rect">
            <a:avLst/>
          </a:prstGeom>
          <a:solidFill xmlns:a="http://schemas.openxmlformats.org/drawingml/2006/main">
            <a:srgbClr val="222D4B"/>
          </a:solidFill>
          <a:ln xmlns:a="http://schemas.openxmlformats.org/drawingml/2006/main" w="0">
            <a:solidFill>
              <a:srgbClr val="222D4B"/>
            </a:solidFill>
            <a:prstDash val="solid"/>
          </a:ln>
        </p:spPr>
      </p:sp>
      <p:sp>
        <p:nvSpPr>
          <p:cNvPr id="22" name="">
            <a:extLst xmlns:a="http://schemas.openxmlformats.org/drawingml/2006/main">
              <a:ext uri="{FF2B5EF4-FFF2-40B4-BE49-F238E27FC236}">
                <a16:creationId xmlns:a16="http://schemas.microsoft.com/office/drawing/2014/main" id="{8D029718-13AB-4EFB-8419-05C5CD8A2034}"/>
              </a:ext>
            </a:extLst>
          </p:cNvPr>
          <p:cNvSpPr>
            <a:spLocks xmlns:a="http://schemas.openxmlformats.org/drawingml/2006/main" noGrp="1"/>
          </p:cNvSpPr>
          <p:nvPr/>
        </p:nvSpPr>
        <p:spPr>
          <a:xfrm xmlns:a="http://schemas.openxmlformats.org/drawingml/2006/main">
            <a:off x="6324600" y="5381625"/>
            <a:ext cx="2524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0" i="0">
                <a:solidFill>
                  <a:srgbClr val="FFFFFF"/>
                </a:solidFill>
                <a:latin typeface="Georgia"/>
                <a:ea typeface="Georgia"/>
                <a:cs typeface="Georgia"/>
              </a:defRPr>
            </a:pPr>
            <a:r>
              <a:rPr sz="1875" b="0" i="0">
                <a:solidFill>
                  <a:srgbClr val="FFFFFF"/>
                </a:solidFill>
                <a:latin typeface="Georgia"/>
                <a:ea typeface="Georgia"/>
                <a:cs typeface="Georgia"/>
              </a:rPr>
              <a:t>Yang</a:t>
            </a:r>
          </a:p>
        </p:txBody>
      </p:sp>
      <p:sp>
        <p:nvSpPr>
          <p:cNvPr id="23" name="">
            <a:extLst xmlns:a="http://schemas.openxmlformats.org/drawingml/2006/main">
              <a:ext uri="{FF2B5EF4-FFF2-40B4-BE49-F238E27FC236}">
                <a16:creationId xmlns:a16="http://schemas.microsoft.com/office/drawing/2014/main" id="{61C752B1-C44B-4C07-AD34-5C4061981302}"/>
              </a:ext>
            </a:extLst>
          </p:cNvPr>
          <p:cNvSpPr>
            <a:spLocks xmlns:a="http://schemas.openxmlformats.org/drawingml/2006/main" noGrp="1"/>
          </p:cNvSpPr>
          <p:nvPr/>
        </p:nvSpPr>
        <p:spPr>
          <a:xfrm xmlns:a="http://schemas.openxmlformats.org/drawingml/2006/main">
            <a:off x="6324600" y="5753100"/>
            <a:ext cx="2476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Computer Science and Business sophomore</a:t>
            </a:r>
          </a:p>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Harvard</a:t>
            </a:r>
          </a:p>
        </p:txBody>
      </p:sp>
      <p:sp>
        <p:nvSpPr>
          <p:cNvPr id="24" name="">
            <a:extLst xmlns:a="http://schemas.openxmlformats.org/drawingml/2006/main">
              <a:ext uri="{FF2B5EF4-FFF2-40B4-BE49-F238E27FC236}">
                <a16:creationId xmlns:a16="http://schemas.microsoft.com/office/drawing/2014/main" id="{13B44547-2FF5-4C42-AA38-97492999628A}"/>
              </a:ext>
            </a:extLst>
          </p:cNvPr>
          <p:cNvSpPr>
            <a:spLocks xmlns:a="http://schemas.openxmlformats.org/drawingml/2006/main" noGrp="1"/>
          </p:cNvSpPr>
          <p:nvPr/>
        </p:nvSpPr>
        <p:spPr>
          <a:xfrm xmlns:a="http://schemas.openxmlformats.org/drawingml/2006/main">
            <a:off x="9001125" y="5381625"/>
            <a:ext cx="9525" cy="971550"/>
          </a:xfrm>
          <a:prstGeom xmlns:a="http://schemas.openxmlformats.org/drawingml/2006/main" prst="rect">
            <a:avLst/>
          </a:prstGeom>
          <a:solidFill xmlns:a="http://schemas.openxmlformats.org/drawingml/2006/main">
            <a:srgbClr val="222D4B"/>
          </a:solidFill>
          <a:ln xmlns:a="http://schemas.openxmlformats.org/drawingml/2006/main" w="0">
            <a:solidFill>
              <a:srgbClr val="222D4B"/>
            </a:solidFill>
            <a:prstDash val="solid"/>
          </a:ln>
        </p:spPr>
      </p:sp>
      <p:sp>
        <p:nvSpPr>
          <p:cNvPr id="25" name="">
            <a:extLst xmlns:a="http://schemas.openxmlformats.org/drawingml/2006/main">
              <a:ext uri="{FF2B5EF4-FFF2-40B4-BE49-F238E27FC236}">
                <a16:creationId xmlns:a16="http://schemas.microsoft.com/office/drawing/2014/main" id="{C805232D-7E2B-4D51-95D7-E1086ECD89E3}"/>
              </a:ext>
            </a:extLst>
          </p:cNvPr>
          <p:cNvSpPr>
            <a:spLocks xmlns:a="http://schemas.openxmlformats.org/drawingml/2006/main" noGrp="1"/>
          </p:cNvSpPr>
          <p:nvPr/>
        </p:nvSpPr>
        <p:spPr>
          <a:xfrm xmlns:a="http://schemas.openxmlformats.org/drawingml/2006/main">
            <a:off x="9210675" y="5381625"/>
            <a:ext cx="2524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0" i="0">
                <a:solidFill>
                  <a:srgbClr val="FFFFFF"/>
                </a:solidFill>
                <a:latin typeface="Georgia"/>
                <a:ea typeface="Georgia"/>
                <a:cs typeface="Georgia"/>
              </a:defRPr>
            </a:pPr>
            <a:r>
              <a:rPr sz="1875" b="0" i="0">
                <a:solidFill>
                  <a:srgbClr val="FFFFFF"/>
                </a:solidFill>
                <a:latin typeface="Georgia"/>
                <a:ea typeface="Georgia"/>
                <a:cs typeface="Georgia"/>
              </a:rPr>
              <a:t>Frank</a:t>
            </a:r>
          </a:p>
        </p:txBody>
      </p:sp>
      <p:sp>
        <p:nvSpPr>
          <p:cNvPr id="26" name="">
            <a:extLst xmlns:a="http://schemas.openxmlformats.org/drawingml/2006/main">
              <a:ext uri="{FF2B5EF4-FFF2-40B4-BE49-F238E27FC236}">
                <a16:creationId xmlns:a16="http://schemas.microsoft.com/office/drawing/2014/main" id="{678F9193-6931-4ED2-A397-3391DF0E7744}"/>
              </a:ext>
            </a:extLst>
          </p:cNvPr>
          <p:cNvSpPr>
            <a:spLocks xmlns:a="http://schemas.openxmlformats.org/drawingml/2006/main" noGrp="1"/>
          </p:cNvSpPr>
          <p:nvPr/>
        </p:nvSpPr>
        <p:spPr>
          <a:xfrm xmlns:a="http://schemas.openxmlformats.org/drawingml/2006/main">
            <a:off x="9210675" y="5753100"/>
            <a:ext cx="2476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Astrophysics PhD researcher</a:t>
            </a:r>
          </a:p>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Northeastern and MIT</a:t>
            </a:r>
          </a:p>
        </p:txBody>
      </p:sp>
    </p:spTree>
    <p:extLst>
      <p:ext uri="{BB962C8B-B14F-4D97-AF65-F5344CB8AC3E}">
        <p14:creationId xmlns:p14="http://schemas.microsoft.com/office/powerpoint/2010/main" val="1318320943"/>
      </p:ext>
    </p:extLst>
  </p:cSld>
</p:sld>
</file>

<file path=ppt/slides/slide2.xml><?xml version="1.0" encoding="utf-8"?>
<p:sld xmlns:p="http://schemas.openxmlformats.org/presentationml/2006/main">
  <p:cSld>
    <p:bg>
      <p:bgPr>
        <a:solidFill xmlns:a="http://schemas.openxmlformats.org/drawingml/2006/main">
          <a:srgbClr val="F3F1E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1AB5FF1-BD92-4292-9096-2D004D91D6A6}"/>
              </a:ext>
            </a:extLst>
          </p:cNvPr>
          <p:cNvSpPr>
            <a:spLocks xmlns:a="http://schemas.openxmlformats.org/drawingml/2006/main" noGrp="1"/>
          </p:cNvSpPr>
          <p:nvPr/>
        </p:nvSpPr>
        <p:spPr>
          <a:xfrm xmlns:a="http://schemas.openxmlformats.org/drawingml/2006/main">
            <a:off x="552450" y="361950"/>
            <a:ext cx="323850" cy="323850"/>
          </a:xfrm>
          <a:prstGeom xmlns:a="http://schemas.openxmlformats.org/drawingml/2006/main" prst="roundRect">
            <a:avLst>
              <a:gd name="adj" fmla="val 26471"/>
            </a:avLst>
          </a:prstGeom>
          <a:solidFill xmlns:a="http://schemas.openxmlformats.org/drawingml/2006/main">
            <a:srgbClr val="D8FF55"/>
          </a:solidFill>
          <a:ln xmlns:a="http://schemas.openxmlformats.org/drawingml/2006/main" w="0">
            <a:solidFill>
              <a:srgbClr val="D8FF55"/>
            </a:solidFill>
            <a:prstDash val="solid"/>
          </a:ln>
        </p:spPr>
      </p:sp>
      <p:sp>
        <p:nvSpPr>
          <p:cNvPr id="2" name="">
            <a:extLst xmlns:a="http://schemas.openxmlformats.org/drawingml/2006/main">
              <a:ext uri="{FF2B5EF4-FFF2-40B4-BE49-F238E27FC236}">
                <a16:creationId xmlns:a16="http://schemas.microsoft.com/office/drawing/2014/main" id="{FD63B6ED-2E21-499C-97FB-E04461D0A36B}"/>
              </a:ext>
            </a:extLst>
          </p:cNvPr>
          <p:cNvSpPr>
            <a:spLocks xmlns:a="http://schemas.openxmlformats.org/drawingml/2006/main" noGrp="1"/>
          </p:cNvSpPr>
          <p:nvPr/>
        </p:nvSpPr>
        <p:spPr>
          <a:xfrm xmlns:a="http://schemas.openxmlformats.org/drawingml/2006/main">
            <a:off x="552450" y="3619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101629"/>
                </a:solidFill>
                <a:latin typeface="Arial"/>
                <a:ea typeface="Arial"/>
                <a:cs typeface="Arial"/>
              </a:defRPr>
            </a:pPr>
            <a:r>
              <a:rPr sz="1350" b="1" i="0">
                <a:solidFill>
                  <a:srgbClr val="101629"/>
                </a:solidFill>
                <a:latin typeface="Arial"/>
                <a:ea typeface="Arial"/>
                <a:cs typeface="Arial"/>
              </a:rPr>
              <a:t>B</a:t>
            </a:r>
          </a:p>
        </p:txBody>
      </p:sp>
      <p:sp>
        <p:nvSpPr>
          <p:cNvPr id="3" name="">
            <a:extLst xmlns:a="http://schemas.openxmlformats.org/drawingml/2006/main">
              <a:ext uri="{FF2B5EF4-FFF2-40B4-BE49-F238E27FC236}">
                <a16:creationId xmlns:a16="http://schemas.microsoft.com/office/drawing/2014/main" id="{AD7DF673-B72A-4064-BA9E-BA69BDDDF659}"/>
              </a:ext>
            </a:extLst>
          </p:cNvPr>
          <p:cNvSpPr>
            <a:spLocks xmlns:a="http://schemas.openxmlformats.org/drawingml/2006/main" noGrp="1"/>
          </p:cNvSpPr>
          <p:nvPr/>
        </p:nvSpPr>
        <p:spPr>
          <a:xfrm xmlns:a="http://schemas.openxmlformats.org/drawingml/2006/main">
            <a:off x="981075" y="35242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01629"/>
                </a:solidFill>
                <a:latin typeface="Arial"/>
                <a:ea typeface="Arial"/>
                <a:cs typeface="Arial"/>
              </a:defRPr>
            </a:pPr>
            <a:r>
              <a:rPr sz="1500" b="1" i="0">
                <a:solidFill>
                  <a:srgbClr val="101629"/>
                </a:solidFill>
                <a:latin typeface="Arial"/>
                <a:ea typeface="Arial"/>
                <a:cs typeface="Arial"/>
              </a:rPr>
              <a:t>belay</a:t>
            </a:r>
          </a:p>
        </p:txBody>
      </p:sp>
      <p:sp>
        <p:nvSpPr>
          <p:cNvPr id="4" name="">
            <a:extLst xmlns:a="http://schemas.openxmlformats.org/drawingml/2006/main">
              <a:ext uri="{FF2B5EF4-FFF2-40B4-BE49-F238E27FC236}">
                <a16:creationId xmlns:a16="http://schemas.microsoft.com/office/drawing/2014/main" id="{88169A01-00D5-4629-AB7C-C8036E250297}"/>
              </a:ext>
            </a:extLst>
          </p:cNvPr>
          <p:cNvSpPr>
            <a:spLocks xmlns:a="http://schemas.openxmlformats.org/drawingml/2006/main" noGrp="1"/>
          </p:cNvSpPr>
          <p:nvPr/>
        </p:nvSpPr>
        <p:spPr>
          <a:xfrm xmlns:a="http://schemas.openxmlformats.org/drawingml/2006/main">
            <a:off x="552450" y="857250"/>
            <a:ext cx="7572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525" b="0" i="0">
                <a:solidFill>
                  <a:srgbClr val="111628"/>
                </a:solidFill>
                <a:latin typeface="Georgia"/>
                <a:ea typeface="Georgia"/>
                <a:cs typeface="Georgia"/>
              </a:defRPr>
            </a:pPr>
            <a:r>
              <a:rPr sz="3525" b="0" i="0">
                <a:solidFill>
                  <a:srgbClr val="111628"/>
                </a:solidFill>
                <a:latin typeface="Georgia"/>
                <a:ea typeface="Georgia"/>
                <a:cs typeface="Georgia"/>
              </a:rPr>
              <a:t>An authorized agent can still pay the wrong thing twice</a:t>
            </a:r>
          </a:p>
        </p:txBody>
      </p:sp>
      <p:sp>
        <p:nvSpPr>
          <p:cNvPr id="5" name="">
            <a:extLst xmlns:a="http://schemas.openxmlformats.org/drawingml/2006/main">
              <a:ext uri="{FF2B5EF4-FFF2-40B4-BE49-F238E27FC236}">
                <a16:creationId xmlns:a16="http://schemas.microsoft.com/office/drawing/2014/main" id="{06AEB356-37F8-4AF0-969B-AB2A8A2EFB43}"/>
              </a:ext>
            </a:extLst>
          </p:cNvPr>
          <p:cNvSpPr>
            <a:spLocks xmlns:a="http://schemas.openxmlformats.org/drawingml/2006/main" noGrp="1"/>
          </p:cNvSpPr>
          <p:nvPr/>
        </p:nvSpPr>
        <p:spPr>
          <a:xfrm xmlns:a="http://schemas.openxmlformats.org/drawingml/2006/main">
            <a:off x="571500" y="1790700"/>
            <a:ext cx="7000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0" i="0">
                <a:solidFill>
                  <a:srgbClr val="697186"/>
                </a:solidFill>
                <a:latin typeface="Arial"/>
                <a:ea typeface="Arial"/>
                <a:cs typeface="Arial"/>
              </a:defRPr>
            </a:pPr>
            <a:r>
              <a:rPr sz="1500" b="0" i="0">
                <a:solidFill>
                  <a:srgbClr val="697186"/>
                </a:solidFill>
                <a:latin typeface="Arial"/>
                <a:ea typeface="Arial"/>
                <a:cs typeface="Arial"/>
              </a:rPr>
              <a:t>The payment API works. The handoff from a human instruction to machine execution can still fail.</a:t>
            </a:r>
          </a:p>
        </p:txBody>
      </p:sp>
      <p:sp>
        <p:nvSpPr>
          <p:cNvPr id="6" name="">
            <a:extLst xmlns:a="http://schemas.openxmlformats.org/drawingml/2006/main">
              <a:ext uri="{FF2B5EF4-FFF2-40B4-BE49-F238E27FC236}">
                <a16:creationId xmlns:a16="http://schemas.microsoft.com/office/drawing/2014/main" id="{7B48B8F0-FDF2-4840-A85A-49F4D7954B39}"/>
              </a:ext>
            </a:extLst>
          </p:cNvPr>
          <p:cNvSpPr>
            <a:spLocks xmlns:a="http://schemas.openxmlformats.org/drawingml/2006/main" noGrp="1"/>
          </p:cNvSpPr>
          <p:nvPr/>
        </p:nvSpPr>
        <p:spPr>
          <a:xfrm xmlns:a="http://schemas.openxmlformats.org/drawingml/2006/main">
            <a:off x="571500" y="2628900"/>
            <a:ext cx="742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225" b="0" i="0">
                <a:solidFill>
                  <a:srgbClr val="5268FF"/>
                </a:solidFill>
                <a:latin typeface="Georgia"/>
                <a:ea typeface="Georgia"/>
                <a:cs typeface="Georgia"/>
              </a:defRPr>
            </a:pPr>
            <a:r>
              <a:rPr sz="3225" b="0" i="0">
                <a:solidFill>
                  <a:srgbClr val="5268FF"/>
                </a:solidFill>
                <a:latin typeface="Georgia"/>
                <a:ea typeface="Georgia"/>
                <a:cs typeface="Georgia"/>
              </a:rPr>
              <a:t>01</a:t>
            </a:r>
          </a:p>
        </p:txBody>
      </p:sp>
      <p:sp>
        <p:nvSpPr>
          <p:cNvPr id="7" name="">
            <a:extLst xmlns:a="http://schemas.openxmlformats.org/drawingml/2006/main">
              <a:ext uri="{FF2B5EF4-FFF2-40B4-BE49-F238E27FC236}">
                <a16:creationId xmlns:a16="http://schemas.microsoft.com/office/drawing/2014/main" id="{BA97B97A-93AF-45B7-975D-1BB671CBA954}"/>
              </a:ext>
            </a:extLst>
          </p:cNvPr>
          <p:cNvSpPr>
            <a:spLocks xmlns:a="http://schemas.openxmlformats.org/drawingml/2006/main" noGrp="1"/>
          </p:cNvSpPr>
          <p:nvPr/>
        </p:nvSpPr>
        <p:spPr>
          <a:xfrm xmlns:a="http://schemas.openxmlformats.org/drawingml/2006/main">
            <a:off x="1438275" y="26098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1" i="0">
                <a:solidFill>
                  <a:srgbClr val="111628"/>
                </a:solidFill>
                <a:latin typeface="Arial"/>
                <a:ea typeface="Arial"/>
                <a:cs typeface="Arial"/>
              </a:defRPr>
            </a:pPr>
            <a:r>
              <a:rPr sz="1725" b="1" i="0">
                <a:solidFill>
                  <a:srgbClr val="111628"/>
                </a:solidFill>
                <a:latin typeface="Arial"/>
                <a:ea typeface="Arial"/>
                <a:cs typeface="Arial"/>
              </a:rPr>
              <a:t>Ambiguity</a:t>
            </a:r>
          </a:p>
        </p:txBody>
      </p:sp>
      <p:sp>
        <p:nvSpPr>
          <p:cNvPr id="8" name="">
            <a:extLst xmlns:a="http://schemas.openxmlformats.org/drawingml/2006/main">
              <a:ext uri="{FF2B5EF4-FFF2-40B4-BE49-F238E27FC236}">
                <a16:creationId xmlns:a16="http://schemas.microsoft.com/office/drawing/2014/main" id="{9D1FDC65-FF18-468F-B471-13E8C877C32F}"/>
              </a:ext>
            </a:extLst>
          </p:cNvPr>
          <p:cNvSpPr>
            <a:spLocks xmlns:a="http://schemas.openxmlformats.org/drawingml/2006/main" noGrp="1"/>
          </p:cNvSpPr>
          <p:nvPr/>
        </p:nvSpPr>
        <p:spPr>
          <a:xfrm xmlns:a="http://schemas.openxmlformats.org/drawingml/2006/main">
            <a:off x="1438275" y="2952750"/>
            <a:ext cx="5857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0" i="0">
                <a:solidFill>
                  <a:srgbClr val="29324A"/>
                </a:solidFill>
                <a:latin typeface="Arial"/>
                <a:ea typeface="Arial"/>
                <a:cs typeface="Arial"/>
              </a:defRPr>
            </a:pPr>
            <a:r>
              <a:rPr sz="1425" b="0" i="0">
                <a:solidFill>
                  <a:srgbClr val="29324A"/>
                </a:solidFill>
                <a:latin typeface="Arial"/>
                <a:ea typeface="Arial"/>
                <a:cs typeface="Arial"/>
              </a:rPr>
              <a:t>The AI misreads the payee, amount, reference, or deadline.</a:t>
            </a:r>
          </a:p>
        </p:txBody>
      </p:sp>
      <p:sp>
        <p:nvSpPr>
          <p:cNvPr id="9" name="">
            <a:extLst xmlns:a="http://schemas.openxmlformats.org/drawingml/2006/main">
              <a:ext uri="{FF2B5EF4-FFF2-40B4-BE49-F238E27FC236}">
                <a16:creationId xmlns:a16="http://schemas.microsoft.com/office/drawing/2014/main" id="{8DA3A2C2-A960-42B2-88EA-C28974DFA860}"/>
              </a:ext>
            </a:extLst>
          </p:cNvPr>
          <p:cNvSpPr>
            <a:spLocks xmlns:a="http://schemas.openxmlformats.org/drawingml/2006/main" noGrp="1"/>
          </p:cNvSpPr>
          <p:nvPr/>
        </p:nvSpPr>
        <p:spPr>
          <a:xfrm xmlns:a="http://schemas.openxmlformats.org/drawingml/2006/main">
            <a:off x="1438275" y="3562350"/>
            <a:ext cx="5857875" cy="9525"/>
          </a:xfrm>
          <a:prstGeom xmlns:a="http://schemas.openxmlformats.org/drawingml/2006/main" prst="rect">
            <a:avLst/>
          </a:prstGeom>
          <a:solidFill xmlns:a="http://schemas.openxmlformats.org/drawingml/2006/main">
            <a:srgbClr val="D6D7D2"/>
          </a:solidFill>
          <a:ln xmlns:a="http://schemas.openxmlformats.org/drawingml/2006/main" w="0">
            <a:solidFill>
              <a:srgbClr val="D6D7D2"/>
            </a:solidFill>
            <a:prstDash val="solid"/>
          </a:ln>
        </p:spPr>
      </p:sp>
      <p:sp>
        <p:nvSpPr>
          <p:cNvPr id="10" name="">
            <a:extLst xmlns:a="http://schemas.openxmlformats.org/drawingml/2006/main">
              <a:ext uri="{FF2B5EF4-FFF2-40B4-BE49-F238E27FC236}">
                <a16:creationId xmlns:a16="http://schemas.microsoft.com/office/drawing/2014/main" id="{E8E78FFD-4018-476F-94D1-A9024FC6C7A8}"/>
              </a:ext>
            </a:extLst>
          </p:cNvPr>
          <p:cNvSpPr>
            <a:spLocks xmlns:a="http://schemas.openxmlformats.org/drawingml/2006/main" noGrp="1"/>
          </p:cNvSpPr>
          <p:nvPr/>
        </p:nvSpPr>
        <p:spPr>
          <a:xfrm xmlns:a="http://schemas.openxmlformats.org/drawingml/2006/main">
            <a:off x="571500" y="3695700"/>
            <a:ext cx="742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225" b="0" i="0">
                <a:solidFill>
                  <a:srgbClr val="5268FF"/>
                </a:solidFill>
                <a:latin typeface="Georgia"/>
                <a:ea typeface="Georgia"/>
                <a:cs typeface="Georgia"/>
              </a:defRPr>
            </a:pPr>
            <a:r>
              <a:rPr sz="3225" b="0" i="0">
                <a:solidFill>
                  <a:srgbClr val="5268FF"/>
                </a:solidFill>
                <a:latin typeface="Georgia"/>
                <a:ea typeface="Georgia"/>
                <a:cs typeface="Georgia"/>
              </a:rPr>
              <a:t>02</a:t>
            </a:r>
          </a:p>
        </p:txBody>
      </p:sp>
      <p:sp>
        <p:nvSpPr>
          <p:cNvPr id="11" name="">
            <a:extLst xmlns:a="http://schemas.openxmlformats.org/drawingml/2006/main">
              <a:ext uri="{FF2B5EF4-FFF2-40B4-BE49-F238E27FC236}">
                <a16:creationId xmlns:a16="http://schemas.microsoft.com/office/drawing/2014/main" id="{600B53D6-0A25-4058-AC10-DBCF72D77E2B}"/>
              </a:ext>
            </a:extLst>
          </p:cNvPr>
          <p:cNvSpPr>
            <a:spLocks xmlns:a="http://schemas.openxmlformats.org/drawingml/2006/main" noGrp="1"/>
          </p:cNvSpPr>
          <p:nvPr/>
        </p:nvSpPr>
        <p:spPr>
          <a:xfrm xmlns:a="http://schemas.openxmlformats.org/drawingml/2006/main">
            <a:off x="1438275" y="36766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1" i="0">
                <a:solidFill>
                  <a:srgbClr val="111628"/>
                </a:solidFill>
                <a:latin typeface="Arial"/>
                <a:ea typeface="Arial"/>
                <a:cs typeface="Arial"/>
              </a:defRPr>
            </a:pPr>
            <a:r>
              <a:rPr sz="1725" b="1" i="0">
                <a:solidFill>
                  <a:srgbClr val="111628"/>
                </a:solidFill>
                <a:latin typeface="Arial"/>
                <a:ea typeface="Arial"/>
                <a:cs typeface="Arial"/>
              </a:rPr>
              <a:t>Overreach</a:t>
            </a:r>
          </a:p>
        </p:txBody>
      </p:sp>
      <p:sp>
        <p:nvSpPr>
          <p:cNvPr id="12" name="">
            <a:extLst xmlns:a="http://schemas.openxmlformats.org/drawingml/2006/main">
              <a:ext uri="{FF2B5EF4-FFF2-40B4-BE49-F238E27FC236}">
                <a16:creationId xmlns:a16="http://schemas.microsoft.com/office/drawing/2014/main" id="{2B05410F-4146-4433-A462-BBC2D3AE2424}"/>
              </a:ext>
            </a:extLst>
          </p:cNvPr>
          <p:cNvSpPr>
            <a:spLocks xmlns:a="http://schemas.openxmlformats.org/drawingml/2006/main" noGrp="1"/>
          </p:cNvSpPr>
          <p:nvPr/>
        </p:nvSpPr>
        <p:spPr>
          <a:xfrm xmlns:a="http://schemas.openxmlformats.org/drawingml/2006/main">
            <a:off x="1438275" y="4019550"/>
            <a:ext cx="5857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0" i="0">
                <a:solidFill>
                  <a:srgbClr val="29324A"/>
                </a:solidFill>
                <a:latin typeface="Arial"/>
                <a:ea typeface="Arial"/>
                <a:cs typeface="Arial"/>
              </a:defRPr>
            </a:pPr>
            <a:r>
              <a:rPr sz="1425" b="0" i="0">
                <a:solidFill>
                  <a:srgbClr val="29324A"/>
                </a:solidFill>
                <a:latin typeface="Arial"/>
                <a:ea typeface="Arial"/>
                <a:cs typeface="Arial"/>
              </a:rPr>
              <a:t>Broad permission becomes a payment the user did not mean to approve.</a:t>
            </a:r>
          </a:p>
        </p:txBody>
      </p:sp>
      <p:sp>
        <p:nvSpPr>
          <p:cNvPr id="13" name="">
            <a:extLst xmlns:a="http://schemas.openxmlformats.org/drawingml/2006/main">
              <a:ext uri="{FF2B5EF4-FFF2-40B4-BE49-F238E27FC236}">
                <a16:creationId xmlns:a16="http://schemas.microsoft.com/office/drawing/2014/main" id="{ACFA333A-AD36-4C4B-9BC6-63842F0E9833}"/>
              </a:ext>
            </a:extLst>
          </p:cNvPr>
          <p:cNvSpPr>
            <a:spLocks xmlns:a="http://schemas.openxmlformats.org/drawingml/2006/main" noGrp="1"/>
          </p:cNvSpPr>
          <p:nvPr/>
        </p:nvSpPr>
        <p:spPr>
          <a:xfrm xmlns:a="http://schemas.openxmlformats.org/drawingml/2006/main">
            <a:off x="1438275" y="4629150"/>
            <a:ext cx="5857875" cy="9525"/>
          </a:xfrm>
          <a:prstGeom xmlns:a="http://schemas.openxmlformats.org/drawingml/2006/main" prst="rect">
            <a:avLst/>
          </a:prstGeom>
          <a:solidFill xmlns:a="http://schemas.openxmlformats.org/drawingml/2006/main">
            <a:srgbClr val="D6D7D2"/>
          </a:solidFill>
          <a:ln xmlns:a="http://schemas.openxmlformats.org/drawingml/2006/main" w="0">
            <a:solidFill>
              <a:srgbClr val="D6D7D2"/>
            </a:solidFill>
            <a:prstDash val="solid"/>
          </a:ln>
        </p:spPr>
      </p:sp>
      <p:sp>
        <p:nvSpPr>
          <p:cNvPr id="14" name="">
            <a:extLst xmlns:a="http://schemas.openxmlformats.org/drawingml/2006/main">
              <a:ext uri="{FF2B5EF4-FFF2-40B4-BE49-F238E27FC236}">
                <a16:creationId xmlns:a16="http://schemas.microsoft.com/office/drawing/2014/main" id="{9DD2FF45-465D-4CE3-BDF3-50555336AD78}"/>
              </a:ext>
            </a:extLst>
          </p:cNvPr>
          <p:cNvSpPr>
            <a:spLocks xmlns:a="http://schemas.openxmlformats.org/drawingml/2006/main" noGrp="1"/>
          </p:cNvSpPr>
          <p:nvPr/>
        </p:nvSpPr>
        <p:spPr>
          <a:xfrm xmlns:a="http://schemas.openxmlformats.org/drawingml/2006/main">
            <a:off x="571500" y="4762500"/>
            <a:ext cx="742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225" b="0" i="0">
                <a:solidFill>
                  <a:srgbClr val="5268FF"/>
                </a:solidFill>
                <a:latin typeface="Georgia"/>
                <a:ea typeface="Georgia"/>
                <a:cs typeface="Georgia"/>
              </a:defRPr>
            </a:pPr>
            <a:r>
              <a:rPr sz="3225" b="0" i="0">
                <a:solidFill>
                  <a:srgbClr val="5268FF"/>
                </a:solidFill>
                <a:latin typeface="Georgia"/>
                <a:ea typeface="Georgia"/>
                <a:cs typeface="Georgia"/>
              </a:rPr>
              <a:t>03</a:t>
            </a:r>
          </a:p>
        </p:txBody>
      </p:sp>
      <p:sp>
        <p:nvSpPr>
          <p:cNvPr id="15" name="">
            <a:extLst xmlns:a="http://schemas.openxmlformats.org/drawingml/2006/main">
              <a:ext uri="{FF2B5EF4-FFF2-40B4-BE49-F238E27FC236}">
                <a16:creationId xmlns:a16="http://schemas.microsoft.com/office/drawing/2014/main" id="{E128E415-77D1-4655-8E92-6029CF48A8E6}"/>
              </a:ext>
            </a:extLst>
          </p:cNvPr>
          <p:cNvSpPr>
            <a:spLocks xmlns:a="http://schemas.openxmlformats.org/drawingml/2006/main" noGrp="1"/>
          </p:cNvSpPr>
          <p:nvPr/>
        </p:nvSpPr>
        <p:spPr>
          <a:xfrm xmlns:a="http://schemas.openxmlformats.org/drawingml/2006/main">
            <a:off x="1438275" y="47434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1" i="0">
                <a:solidFill>
                  <a:srgbClr val="111628"/>
                </a:solidFill>
                <a:latin typeface="Arial"/>
                <a:ea typeface="Arial"/>
                <a:cs typeface="Arial"/>
              </a:defRPr>
            </a:pPr>
            <a:r>
              <a:rPr sz="1725" b="1" i="0">
                <a:solidFill>
                  <a:srgbClr val="111628"/>
                </a:solidFill>
                <a:latin typeface="Arial"/>
                <a:ea typeface="Arial"/>
                <a:cs typeface="Arial"/>
              </a:rPr>
              <a:t>Uncertainty</a:t>
            </a:r>
          </a:p>
        </p:txBody>
      </p:sp>
      <p:sp>
        <p:nvSpPr>
          <p:cNvPr id="16" name="">
            <a:extLst xmlns:a="http://schemas.openxmlformats.org/drawingml/2006/main">
              <a:ext uri="{FF2B5EF4-FFF2-40B4-BE49-F238E27FC236}">
                <a16:creationId xmlns:a16="http://schemas.microsoft.com/office/drawing/2014/main" id="{80E35CE6-ECD5-4BF1-89A8-3A91AFBD873B}"/>
              </a:ext>
            </a:extLst>
          </p:cNvPr>
          <p:cNvSpPr>
            <a:spLocks xmlns:a="http://schemas.openxmlformats.org/drawingml/2006/main" noGrp="1"/>
          </p:cNvSpPr>
          <p:nvPr/>
        </p:nvSpPr>
        <p:spPr>
          <a:xfrm xmlns:a="http://schemas.openxmlformats.org/drawingml/2006/main">
            <a:off x="1438275" y="5086350"/>
            <a:ext cx="5857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0" i="0">
                <a:solidFill>
                  <a:srgbClr val="29324A"/>
                </a:solidFill>
                <a:latin typeface="Arial"/>
                <a:ea typeface="Arial"/>
                <a:cs typeface="Arial"/>
              </a:defRPr>
            </a:pPr>
            <a:r>
              <a:rPr sz="1425" b="0" i="0">
                <a:solidFill>
                  <a:srgbClr val="29324A"/>
                </a:solidFill>
                <a:latin typeface="Arial"/>
                <a:ea typeface="Arial"/>
                <a:cs typeface="Arial"/>
              </a:rPr>
              <a:t>A lost response looks like failure and triggers a duplicate retry.</a:t>
            </a:r>
          </a:p>
        </p:txBody>
      </p:sp>
      <p:sp>
        <p:nvSpPr>
          <p:cNvPr id="17" name="">
            <a:extLst xmlns:a="http://schemas.openxmlformats.org/drawingml/2006/main">
              <a:ext uri="{FF2B5EF4-FFF2-40B4-BE49-F238E27FC236}">
                <a16:creationId xmlns:a16="http://schemas.microsoft.com/office/drawing/2014/main" id="{0A612BF4-E95D-4AC2-A660-15DA805CDCA9}"/>
              </a:ext>
            </a:extLst>
          </p:cNvPr>
          <p:cNvSpPr>
            <a:spLocks xmlns:a="http://schemas.openxmlformats.org/drawingml/2006/main" noGrp="1"/>
          </p:cNvSpPr>
          <p:nvPr/>
        </p:nvSpPr>
        <p:spPr>
          <a:xfrm xmlns:a="http://schemas.openxmlformats.org/drawingml/2006/main">
            <a:off x="8058150" y="914400"/>
            <a:ext cx="3562350" cy="5019675"/>
          </a:xfrm>
          <a:prstGeom xmlns:a="http://schemas.openxmlformats.org/drawingml/2006/main" prst="roundRect">
            <a:avLst>
              <a:gd name="adj" fmla="val 6417"/>
            </a:avLst>
          </a:prstGeom>
          <a:solidFill xmlns:a="http://schemas.openxmlformats.org/drawingml/2006/main">
            <a:srgbClr val="101629"/>
          </a:solidFill>
          <a:ln xmlns:a="http://schemas.openxmlformats.org/drawingml/2006/main" w="0">
            <a:solidFill>
              <a:srgbClr val="101629"/>
            </a:solidFill>
            <a:prstDash val="solid"/>
          </a:ln>
        </p:spPr>
      </p:sp>
      <p:sp>
        <p:nvSpPr>
          <p:cNvPr id="18" name="">
            <a:extLst xmlns:a="http://schemas.openxmlformats.org/drawingml/2006/main">
              <a:ext uri="{FF2B5EF4-FFF2-40B4-BE49-F238E27FC236}">
                <a16:creationId xmlns:a16="http://schemas.microsoft.com/office/drawing/2014/main" id="{F97537D4-3EBA-4DE3-9178-F0FD61D7BCCB}"/>
              </a:ext>
            </a:extLst>
          </p:cNvPr>
          <p:cNvSpPr>
            <a:spLocks xmlns:a="http://schemas.openxmlformats.org/drawingml/2006/main" noGrp="1"/>
          </p:cNvSpPr>
          <p:nvPr/>
        </p:nvSpPr>
        <p:spPr>
          <a:xfrm xmlns:a="http://schemas.openxmlformats.org/drawingml/2006/main">
            <a:off x="8382000" y="1266825"/>
            <a:ext cx="2905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D8FF55"/>
                </a:solidFill>
                <a:latin typeface="Arial"/>
                <a:ea typeface="Arial"/>
                <a:cs typeface="Arial"/>
              </a:defRPr>
            </a:pPr>
            <a:r>
              <a:rPr sz="975" b="1" i="0">
                <a:solidFill>
                  <a:srgbClr val="D8FF55"/>
                </a:solidFill>
                <a:latin typeface="Arial"/>
                <a:ea typeface="Arial"/>
                <a:cs typeface="Arial"/>
              </a:rPr>
              <a:t>EXISTING U.S. PAYMENT FLOW</a:t>
            </a:r>
          </a:p>
        </p:txBody>
      </p:sp>
      <p:sp>
        <p:nvSpPr>
          <p:cNvPr id="19" name="">
            <a:extLst xmlns:a="http://schemas.openxmlformats.org/drawingml/2006/main">
              <a:ext uri="{FF2B5EF4-FFF2-40B4-BE49-F238E27FC236}">
                <a16:creationId xmlns:a16="http://schemas.microsoft.com/office/drawing/2014/main" id="{13914A1D-D318-4DAE-9298-73B206CA8666}"/>
              </a:ext>
            </a:extLst>
          </p:cNvPr>
          <p:cNvSpPr>
            <a:spLocks xmlns:a="http://schemas.openxmlformats.org/drawingml/2006/main" noGrp="1"/>
          </p:cNvSpPr>
          <p:nvPr/>
        </p:nvSpPr>
        <p:spPr>
          <a:xfrm xmlns:a="http://schemas.openxmlformats.org/drawingml/2006/main">
            <a:off x="8362950" y="1628775"/>
            <a:ext cx="295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5250" b="0" i="0">
                <a:solidFill>
                  <a:srgbClr val="FFFFFF"/>
                </a:solidFill>
                <a:latin typeface="Georgia"/>
                <a:ea typeface="Georgia"/>
                <a:cs typeface="Georgia"/>
              </a:defRPr>
            </a:pPr>
            <a:r>
              <a:rPr sz="5250" b="0" i="0">
                <a:solidFill>
                  <a:srgbClr val="FFFFFF"/>
                </a:solidFill>
                <a:latin typeface="Georgia"/>
                <a:ea typeface="Georgia"/>
                <a:cs typeface="Georgia"/>
              </a:rPr>
              <a:t>8.1B</a:t>
            </a:r>
          </a:p>
        </p:txBody>
      </p:sp>
      <p:sp>
        <p:nvSpPr>
          <p:cNvPr id="20" name="">
            <a:extLst xmlns:a="http://schemas.openxmlformats.org/drawingml/2006/main">
              <a:ext uri="{FF2B5EF4-FFF2-40B4-BE49-F238E27FC236}">
                <a16:creationId xmlns:a16="http://schemas.microsoft.com/office/drawing/2014/main" id="{3F07AAEE-A7DE-40B0-8875-DDD1EB8A678D}"/>
              </a:ext>
            </a:extLst>
          </p:cNvPr>
          <p:cNvSpPr>
            <a:spLocks xmlns:a="http://schemas.openxmlformats.org/drawingml/2006/main" noGrp="1"/>
          </p:cNvSpPr>
          <p:nvPr/>
        </p:nvSpPr>
        <p:spPr>
          <a:xfrm xmlns:a="http://schemas.openxmlformats.org/drawingml/2006/main">
            <a:off x="8382000" y="2505075"/>
            <a:ext cx="2714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B2B ACH payments in 2025</a:t>
            </a:r>
          </a:p>
        </p:txBody>
      </p:sp>
      <p:sp>
        <p:nvSpPr>
          <p:cNvPr id="21" name="">
            <a:extLst xmlns:a="http://schemas.openxmlformats.org/drawingml/2006/main">
              <a:ext uri="{FF2B5EF4-FFF2-40B4-BE49-F238E27FC236}">
                <a16:creationId xmlns:a16="http://schemas.microsoft.com/office/drawing/2014/main" id="{3806739D-25C6-4870-9A82-E8C0FBE73D41}"/>
              </a:ext>
            </a:extLst>
          </p:cNvPr>
          <p:cNvSpPr>
            <a:spLocks xmlns:a="http://schemas.openxmlformats.org/drawingml/2006/main" noGrp="1"/>
          </p:cNvSpPr>
          <p:nvPr/>
        </p:nvSpPr>
        <p:spPr>
          <a:xfrm xmlns:a="http://schemas.openxmlformats.org/drawingml/2006/main">
            <a:off x="8382000" y="3190875"/>
            <a:ext cx="2857500" cy="19050"/>
          </a:xfrm>
          <a:prstGeom xmlns:a="http://schemas.openxmlformats.org/drawingml/2006/main" prst="rect">
            <a:avLst/>
          </a:prstGeom>
          <a:solidFill xmlns:a="http://schemas.openxmlformats.org/drawingml/2006/main">
            <a:srgbClr val="222D4B"/>
          </a:solidFill>
          <a:ln xmlns:a="http://schemas.openxmlformats.org/drawingml/2006/main" w="0">
            <a:solidFill>
              <a:srgbClr val="222D4B"/>
            </a:solidFill>
            <a:prstDash val="solid"/>
          </a:ln>
        </p:spPr>
      </p:sp>
      <p:sp>
        <p:nvSpPr>
          <p:cNvPr id="22" name="">
            <a:extLst xmlns:a="http://schemas.openxmlformats.org/drawingml/2006/main">
              <a:ext uri="{FF2B5EF4-FFF2-40B4-BE49-F238E27FC236}">
                <a16:creationId xmlns:a16="http://schemas.microsoft.com/office/drawing/2014/main" id="{AA451D47-73F1-4A17-9A10-09D050F165C6}"/>
              </a:ext>
            </a:extLst>
          </p:cNvPr>
          <p:cNvSpPr>
            <a:spLocks xmlns:a="http://schemas.openxmlformats.org/drawingml/2006/main" noGrp="1"/>
          </p:cNvSpPr>
          <p:nvPr/>
        </p:nvSpPr>
        <p:spPr>
          <a:xfrm xmlns:a="http://schemas.openxmlformats.org/drawingml/2006/main">
            <a:off x="8382000" y="340042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600" b="0" i="0">
                <a:solidFill>
                  <a:srgbClr val="D8FF55"/>
                </a:solidFill>
                <a:latin typeface="Georgia"/>
                <a:ea typeface="Georgia"/>
                <a:cs typeface="Georgia"/>
              </a:defRPr>
            </a:pPr>
            <a:r>
              <a:rPr sz="3600" b="0" i="0">
                <a:solidFill>
                  <a:srgbClr val="D8FF55"/>
                </a:solidFill>
                <a:latin typeface="Georgia"/>
                <a:ea typeface="Georgia"/>
                <a:cs typeface="Georgia"/>
              </a:rPr>
              <a:t>$63.1T</a:t>
            </a:r>
          </a:p>
        </p:txBody>
      </p:sp>
      <p:sp>
        <p:nvSpPr>
          <p:cNvPr id="23" name="">
            <a:extLst xmlns:a="http://schemas.openxmlformats.org/drawingml/2006/main">
              <a:ext uri="{FF2B5EF4-FFF2-40B4-BE49-F238E27FC236}">
                <a16:creationId xmlns:a16="http://schemas.microsoft.com/office/drawing/2014/main" id="{FC311305-585E-4AC2-AEE2-030053580518}"/>
              </a:ext>
            </a:extLst>
          </p:cNvPr>
          <p:cNvSpPr>
            <a:spLocks xmlns:a="http://schemas.openxmlformats.org/drawingml/2006/main" noGrp="1"/>
          </p:cNvSpPr>
          <p:nvPr/>
        </p:nvSpPr>
        <p:spPr>
          <a:xfrm xmlns:a="http://schemas.openxmlformats.org/drawingml/2006/main">
            <a:off x="8382000" y="4057650"/>
            <a:ext cx="276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D0D6E5"/>
                </a:solidFill>
                <a:latin typeface="Arial"/>
                <a:ea typeface="Arial"/>
                <a:cs typeface="Arial"/>
              </a:defRPr>
            </a:pPr>
            <a:r>
              <a:rPr sz="1350" b="0" i="0">
                <a:solidFill>
                  <a:srgbClr val="D0D6E5"/>
                </a:solidFill>
                <a:latin typeface="Arial"/>
                <a:ea typeface="Arial"/>
                <a:cs typeface="Arial"/>
              </a:rPr>
              <a:t>transferred across those payments</a:t>
            </a:r>
          </a:p>
        </p:txBody>
      </p:sp>
      <p:sp>
        <p:nvSpPr>
          <p:cNvPr id="24" name="">
            <a:extLst xmlns:a="http://schemas.openxmlformats.org/drawingml/2006/main">
              <a:ext uri="{FF2B5EF4-FFF2-40B4-BE49-F238E27FC236}">
                <a16:creationId xmlns:a16="http://schemas.microsoft.com/office/drawing/2014/main" id="{DE0F2600-7DAA-4435-8D22-B4D804F3B6FA}"/>
              </a:ext>
            </a:extLst>
          </p:cNvPr>
          <p:cNvSpPr>
            <a:spLocks xmlns:a="http://schemas.openxmlformats.org/drawingml/2006/main" noGrp="1"/>
          </p:cNvSpPr>
          <p:nvPr/>
        </p:nvSpPr>
        <p:spPr>
          <a:xfrm xmlns:a="http://schemas.openxmlformats.org/drawingml/2006/main">
            <a:off x="8382000" y="47339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i="1">
                <a:solidFill>
                  <a:srgbClr val="8F9AB4"/>
                </a:solidFill>
                <a:latin typeface="Arial"/>
                <a:ea typeface="Arial"/>
                <a:cs typeface="Arial"/>
              </a:defRPr>
            </a:pPr>
            <a:r>
              <a:rPr sz="1050" b="0" i="1">
                <a:solidFill>
                  <a:srgbClr val="8F9AB4"/>
                </a:solidFill>
                <a:latin typeface="Arial"/>
                <a:ea typeface="Arial"/>
                <a:cs typeface="Arial"/>
              </a:rPr>
              <a:t>Payment flow, not Belay TAM</a:t>
            </a:r>
          </a:p>
        </p:txBody>
      </p:sp>
      <p:sp>
        <p:nvSpPr>
          <p:cNvPr id="25" name="">
            <a:extLst xmlns:a="http://schemas.openxmlformats.org/drawingml/2006/main">
              <a:ext uri="{FF2B5EF4-FFF2-40B4-BE49-F238E27FC236}">
                <a16:creationId xmlns:a16="http://schemas.microsoft.com/office/drawing/2014/main" id="{E094E33C-CEFA-4779-934F-6393F7670F71}"/>
              </a:ext>
            </a:extLst>
          </p:cNvPr>
          <p:cNvSpPr>
            <a:spLocks xmlns:a="http://schemas.openxmlformats.org/drawingml/2006/main" noGrp="1"/>
          </p:cNvSpPr>
          <p:nvPr/>
        </p:nvSpPr>
        <p:spPr>
          <a:xfrm xmlns:a="http://schemas.openxmlformats.org/drawingml/2006/main">
            <a:off x="8382000" y="5153025"/>
            <a:ext cx="28003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FFFFF"/>
                </a:solidFill>
                <a:latin typeface="Arial"/>
                <a:ea typeface="Arial"/>
                <a:cs typeface="Arial"/>
              </a:defRPr>
            </a:pPr>
            <a:r>
              <a:rPr sz="1350" b="1" i="0">
                <a:solidFill>
                  <a:srgbClr val="FFFFFF"/>
                </a:solidFill>
                <a:latin typeface="Arial"/>
                <a:ea typeface="Arial"/>
                <a:cs typeface="Arial"/>
              </a:rPr>
              <a:t>Loss, disputes, and manual investigation appear when authority and outcome cannot be proven.</a:t>
            </a:r>
          </a:p>
        </p:txBody>
      </p:sp>
      <p:sp>
        <p:nvSpPr>
          <p:cNvPr id="26" name="">
            <a:extLst xmlns:a="http://schemas.openxmlformats.org/drawingml/2006/main">
              <a:ext uri="{FF2B5EF4-FFF2-40B4-BE49-F238E27FC236}">
                <a16:creationId xmlns:a16="http://schemas.microsoft.com/office/drawing/2014/main" id="{D8CAEA8E-66C6-405C-A7E2-C0EDD32DD3F4}"/>
              </a:ext>
            </a:extLst>
          </p:cNvPr>
          <p:cNvSpPr>
            <a:spLocks xmlns:a="http://schemas.openxmlformats.org/drawingml/2006/main" noGrp="1"/>
          </p:cNvSpPr>
          <p:nvPr/>
        </p:nvSpPr>
        <p:spPr>
          <a:xfrm xmlns:a="http://schemas.openxmlformats.org/drawingml/2006/main">
            <a:off x="571500" y="6457950"/>
            <a:ext cx="542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i="0">
                <a:solidFill>
                  <a:srgbClr val="697186"/>
                </a:solidFill>
                <a:latin typeface="Arial"/>
                <a:ea typeface="Arial"/>
                <a:cs typeface="Arial"/>
              </a:defRPr>
            </a:pPr>
            <a:r>
              <a:rPr sz="900" b="0" i="0">
                <a:solidFill>
                  <a:srgbClr val="697186"/>
                </a:solidFill>
                <a:latin typeface="Arial"/>
                <a:ea typeface="Arial"/>
                <a:cs typeface="Arial"/>
              </a:rPr>
              <a:t>Source: Nacha, 2025 ACH Network statistics</a:t>
            </a:r>
          </a:p>
        </p:txBody>
      </p:sp>
    </p:spTree>
    <p:extLst>
      <p:ext uri="{BB962C8B-B14F-4D97-AF65-F5344CB8AC3E}">
        <p14:creationId xmlns:p14="http://schemas.microsoft.com/office/powerpoint/2010/main" val="262720107"/>
      </p:ext>
    </p:extLst>
  </p:cSld>
</p:sld>
</file>

<file path=ppt/slides/slide3.xml><?xml version="1.0" encoding="utf-8"?>
<p:sld xmlns:p="http://schemas.openxmlformats.org/presentationml/2006/main">
  <p:cSld>
    <p:bg>
      <p:bgPr>
        <a:solidFill xmlns:a="http://schemas.openxmlformats.org/drawingml/2006/main">
          <a:srgbClr val="10162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E76E6EA-EB77-42F8-A4AD-55FE14A03419}"/>
              </a:ext>
            </a:extLst>
          </p:cNvPr>
          <p:cNvSpPr>
            <a:spLocks xmlns:a="http://schemas.openxmlformats.org/drawingml/2006/main" noGrp="1"/>
          </p:cNvSpPr>
          <p:nvPr/>
        </p:nvSpPr>
        <p:spPr>
          <a:xfrm xmlns:a="http://schemas.openxmlformats.org/drawingml/2006/main">
            <a:off x="552450" y="342900"/>
            <a:ext cx="323850" cy="323850"/>
          </a:xfrm>
          <a:prstGeom xmlns:a="http://schemas.openxmlformats.org/drawingml/2006/main" prst="roundRect">
            <a:avLst>
              <a:gd name="adj" fmla="val 26471"/>
            </a:avLst>
          </a:prstGeom>
          <a:solidFill xmlns:a="http://schemas.openxmlformats.org/drawingml/2006/main">
            <a:srgbClr val="D8FF55"/>
          </a:solidFill>
          <a:ln xmlns:a="http://schemas.openxmlformats.org/drawingml/2006/main" w="0">
            <a:solidFill>
              <a:srgbClr val="D8FF55"/>
            </a:solidFill>
            <a:prstDash val="solid"/>
          </a:ln>
        </p:spPr>
      </p:sp>
      <p:sp>
        <p:nvSpPr>
          <p:cNvPr id="2" name="">
            <a:extLst xmlns:a="http://schemas.openxmlformats.org/drawingml/2006/main">
              <a:ext uri="{FF2B5EF4-FFF2-40B4-BE49-F238E27FC236}">
                <a16:creationId xmlns:a16="http://schemas.microsoft.com/office/drawing/2014/main" id="{0E408489-F517-4747-9DB9-7B20039E6E8A}"/>
              </a:ext>
            </a:extLst>
          </p:cNvPr>
          <p:cNvSpPr>
            <a:spLocks xmlns:a="http://schemas.openxmlformats.org/drawingml/2006/main" noGrp="1"/>
          </p:cNvSpPr>
          <p:nvPr/>
        </p:nvSpPr>
        <p:spPr>
          <a:xfrm xmlns:a="http://schemas.openxmlformats.org/drawingml/2006/main">
            <a:off x="552450" y="3429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101629"/>
                </a:solidFill>
                <a:latin typeface="Arial"/>
                <a:ea typeface="Arial"/>
                <a:cs typeface="Arial"/>
              </a:defRPr>
            </a:pPr>
            <a:r>
              <a:rPr sz="1350" b="1" i="0">
                <a:solidFill>
                  <a:srgbClr val="101629"/>
                </a:solidFill>
                <a:latin typeface="Arial"/>
                <a:ea typeface="Arial"/>
                <a:cs typeface="Arial"/>
              </a:rPr>
              <a:t>B</a:t>
            </a:r>
          </a:p>
        </p:txBody>
      </p:sp>
      <p:sp>
        <p:nvSpPr>
          <p:cNvPr id="3" name="">
            <a:extLst xmlns:a="http://schemas.openxmlformats.org/drawingml/2006/main">
              <a:ext uri="{FF2B5EF4-FFF2-40B4-BE49-F238E27FC236}">
                <a16:creationId xmlns:a16="http://schemas.microsoft.com/office/drawing/2014/main" id="{7C191BC9-02B9-476F-ABA1-297FFDAD376D}"/>
              </a:ext>
            </a:extLst>
          </p:cNvPr>
          <p:cNvSpPr>
            <a:spLocks xmlns:a="http://schemas.openxmlformats.org/drawingml/2006/main" noGrp="1"/>
          </p:cNvSpPr>
          <p:nvPr/>
        </p:nvSpPr>
        <p:spPr>
          <a:xfrm xmlns:a="http://schemas.openxmlformats.org/drawingml/2006/main">
            <a:off x="981075" y="3333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belay</a:t>
            </a:r>
          </a:p>
        </p:txBody>
      </p:sp>
      <p:sp>
        <p:nvSpPr>
          <p:cNvPr id="4" name="">
            <a:extLst xmlns:a="http://schemas.openxmlformats.org/drawingml/2006/main">
              <a:ext uri="{FF2B5EF4-FFF2-40B4-BE49-F238E27FC236}">
                <a16:creationId xmlns:a16="http://schemas.microsoft.com/office/drawing/2014/main" id="{C114DAD3-5DB1-4B49-89BD-9A557037355D}"/>
              </a:ext>
            </a:extLst>
          </p:cNvPr>
          <p:cNvSpPr>
            <a:spLocks xmlns:a="http://schemas.openxmlformats.org/drawingml/2006/main" noGrp="1"/>
          </p:cNvSpPr>
          <p:nvPr/>
        </p:nvSpPr>
        <p:spPr>
          <a:xfrm xmlns:a="http://schemas.openxmlformats.org/drawingml/2006/main">
            <a:off x="552450" y="866775"/>
            <a:ext cx="10668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75" b="0" i="0">
                <a:solidFill>
                  <a:srgbClr val="FFFFFF"/>
                </a:solidFill>
                <a:latin typeface="Georgia"/>
                <a:ea typeface="Georgia"/>
                <a:cs typeface="Georgia"/>
              </a:defRPr>
            </a:pPr>
            <a:r>
              <a:rPr sz="3375" b="0" i="0">
                <a:solidFill>
                  <a:srgbClr val="FFFFFF"/>
                </a:solidFill>
                <a:latin typeface="Georgia"/>
                <a:ea typeface="Georgia"/>
                <a:cs typeface="Georgia"/>
              </a:rPr>
              <a:t>One request becomes one controlled payment record</a:t>
            </a:r>
          </a:p>
        </p:txBody>
      </p:sp>
      <p:sp>
        <p:nvSpPr>
          <p:cNvPr id="5" name="">
            <a:extLst xmlns:a="http://schemas.openxmlformats.org/drawingml/2006/main">
              <a:ext uri="{FF2B5EF4-FFF2-40B4-BE49-F238E27FC236}">
                <a16:creationId xmlns:a16="http://schemas.microsoft.com/office/drawing/2014/main" id="{DE9D9475-1A58-41E3-A293-FB2E8A308695}"/>
              </a:ext>
            </a:extLst>
          </p:cNvPr>
          <p:cNvSpPr>
            <a:spLocks xmlns:a="http://schemas.openxmlformats.org/drawingml/2006/main" noGrp="1"/>
          </p:cNvSpPr>
          <p:nvPr/>
        </p:nvSpPr>
        <p:spPr>
          <a:xfrm xmlns:a="http://schemas.openxmlformats.org/drawingml/2006/main">
            <a:off x="571500" y="1514475"/>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0" i="0">
                <a:solidFill>
                  <a:srgbClr val="B9C1D2"/>
                </a:solidFill>
                <a:latin typeface="Arial"/>
                <a:ea typeface="Arial"/>
                <a:cs typeface="Arial"/>
              </a:defRPr>
            </a:pPr>
            <a:r>
              <a:rPr sz="1500" b="0" i="0">
                <a:solidFill>
                  <a:srgbClr val="B9C1D2"/>
                </a:solidFill>
                <a:latin typeface="Arial"/>
                <a:ea typeface="Arial"/>
                <a:cs typeface="Arial"/>
              </a:rPr>
              <a:t>The customer and backend read the same persisted event.</a:t>
            </a:r>
          </a:p>
        </p:txBody>
      </p:sp>
      <p:sp>
        <p:nvSpPr>
          <p:cNvPr id="6" name="">
            <a:extLst xmlns:a="http://schemas.openxmlformats.org/drawingml/2006/main">
              <a:ext uri="{FF2B5EF4-FFF2-40B4-BE49-F238E27FC236}">
                <a16:creationId xmlns:a16="http://schemas.microsoft.com/office/drawing/2014/main" id="{18443207-6C6A-45E2-BF92-15B877F6DED2}"/>
              </a:ext>
            </a:extLst>
          </p:cNvPr>
          <p:cNvSpPr>
            <a:spLocks xmlns:a="http://schemas.openxmlformats.org/drawingml/2006/main" noGrp="1"/>
          </p:cNvSpPr>
          <p:nvPr/>
        </p:nvSpPr>
        <p:spPr>
          <a:xfrm xmlns:a="http://schemas.openxmlformats.org/drawingml/2006/main">
            <a:off x="571500" y="21336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D8FF55"/>
                </a:solidFill>
                <a:latin typeface="Arial"/>
                <a:ea typeface="Arial"/>
                <a:cs typeface="Arial"/>
              </a:defRPr>
            </a:pPr>
            <a:r>
              <a:rPr sz="1200" b="1" i="0">
                <a:solidFill>
                  <a:srgbClr val="D8FF5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50C2F55-FF5D-422A-9A3F-5928031176E4}"/>
              </a:ext>
            </a:extLst>
          </p:cNvPr>
          <p:cNvSpPr>
            <a:spLocks xmlns:a="http://schemas.openxmlformats.org/drawingml/2006/main" noGrp="1"/>
          </p:cNvSpPr>
          <p:nvPr/>
        </p:nvSpPr>
        <p:spPr>
          <a:xfrm xmlns:a="http://schemas.openxmlformats.org/drawingml/2006/main">
            <a:off x="1076325" y="208597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Request</a:t>
            </a:r>
          </a:p>
        </p:txBody>
      </p:sp>
      <p:sp>
        <p:nvSpPr>
          <p:cNvPr id="8" name="">
            <a:extLst xmlns:a="http://schemas.openxmlformats.org/drawingml/2006/main">
              <a:ext uri="{FF2B5EF4-FFF2-40B4-BE49-F238E27FC236}">
                <a16:creationId xmlns:a16="http://schemas.microsoft.com/office/drawing/2014/main" id="{53B84423-45E3-43DA-A557-9F09330EFE22}"/>
              </a:ext>
            </a:extLst>
          </p:cNvPr>
          <p:cNvSpPr>
            <a:spLocks xmlns:a="http://schemas.openxmlformats.org/drawingml/2006/main" noGrp="1"/>
          </p:cNvSpPr>
          <p:nvPr/>
        </p:nvSpPr>
        <p:spPr>
          <a:xfrm xmlns:a="http://schemas.openxmlformats.org/drawingml/2006/main">
            <a:off x="1076325" y="2409825"/>
            <a:ext cx="238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Ask for an invoice, tax payment, insurance premium, or purchase.</a:t>
            </a:r>
          </a:p>
        </p:txBody>
      </p:sp>
      <p:sp>
        <p:nvSpPr>
          <p:cNvPr id="9" name="">
            <a:extLst xmlns:a="http://schemas.openxmlformats.org/drawingml/2006/main">
              <a:ext uri="{FF2B5EF4-FFF2-40B4-BE49-F238E27FC236}">
                <a16:creationId xmlns:a16="http://schemas.microsoft.com/office/drawing/2014/main" id="{D4B29A34-7CFB-4B6F-A685-5A1590C2D0E2}"/>
              </a:ext>
            </a:extLst>
          </p:cNvPr>
          <p:cNvSpPr>
            <a:spLocks xmlns:a="http://schemas.openxmlformats.org/drawingml/2006/main" noGrp="1"/>
          </p:cNvSpPr>
          <p:nvPr/>
        </p:nvSpPr>
        <p:spPr>
          <a:xfrm xmlns:a="http://schemas.openxmlformats.org/drawingml/2006/main">
            <a:off x="571500" y="309562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D8FF55"/>
                </a:solidFill>
                <a:latin typeface="Arial"/>
                <a:ea typeface="Arial"/>
                <a:cs typeface="Arial"/>
              </a:defRPr>
            </a:pPr>
            <a:r>
              <a:rPr sz="1200" b="1" i="0">
                <a:solidFill>
                  <a:srgbClr val="D8FF5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6C7CE91-0F68-45C4-93D0-BC450F68159A}"/>
              </a:ext>
            </a:extLst>
          </p:cNvPr>
          <p:cNvSpPr>
            <a:spLocks xmlns:a="http://schemas.openxmlformats.org/drawingml/2006/main" noGrp="1"/>
          </p:cNvSpPr>
          <p:nvPr/>
        </p:nvSpPr>
        <p:spPr>
          <a:xfrm xmlns:a="http://schemas.openxmlformats.org/drawingml/2006/main">
            <a:off x="1076325" y="30480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Review</a:t>
            </a:r>
          </a:p>
        </p:txBody>
      </p:sp>
      <p:sp>
        <p:nvSpPr>
          <p:cNvPr id="11" name="">
            <a:extLst xmlns:a="http://schemas.openxmlformats.org/drawingml/2006/main">
              <a:ext uri="{FF2B5EF4-FFF2-40B4-BE49-F238E27FC236}">
                <a16:creationId xmlns:a16="http://schemas.microsoft.com/office/drawing/2014/main" id="{3C52AE31-5888-4D09-BBF2-93CD1ACD52C7}"/>
              </a:ext>
            </a:extLst>
          </p:cNvPr>
          <p:cNvSpPr>
            <a:spLocks xmlns:a="http://schemas.openxmlformats.org/drawingml/2006/main" noGrp="1"/>
          </p:cNvSpPr>
          <p:nvPr/>
        </p:nvSpPr>
        <p:spPr>
          <a:xfrm xmlns:a="http://schemas.openxmlformats.org/drawingml/2006/main">
            <a:off x="1076325" y="3371850"/>
            <a:ext cx="238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Belay keeps unknown money details blank until the user supplies them.</a:t>
            </a:r>
          </a:p>
        </p:txBody>
      </p:sp>
      <p:sp>
        <p:nvSpPr>
          <p:cNvPr id="12" name="">
            <a:extLst xmlns:a="http://schemas.openxmlformats.org/drawingml/2006/main">
              <a:ext uri="{FF2B5EF4-FFF2-40B4-BE49-F238E27FC236}">
                <a16:creationId xmlns:a16="http://schemas.microsoft.com/office/drawing/2014/main" id="{9CD4F132-ECF6-4CDC-A605-FEE62CD69EA5}"/>
              </a:ext>
            </a:extLst>
          </p:cNvPr>
          <p:cNvSpPr>
            <a:spLocks xmlns:a="http://schemas.openxmlformats.org/drawingml/2006/main" noGrp="1"/>
          </p:cNvSpPr>
          <p:nvPr/>
        </p:nvSpPr>
        <p:spPr>
          <a:xfrm xmlns:a="http://schemas.openxmlformats.org/drawingml/2006/main">
            <a:off x="571500" y="40576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D8FF55"/>
                </a:solidFill>
                <a:latin typeface="Arial"/>
                <a:ea typeface="Arial"/>
                <a:cs typeface="Arial"/>
              </a:defRPr>
            </a:pPr>
            <a:r>
              <a:rPr sz="1200" b="1" i="0">
                <a:solidFill>
                  <a:srgbClr val="D8FF5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9A5C432-6ED5-4583-A8DC-D04449DA682B}"/>
              </a:ext>
            </a:extLst>
          </p:cNvPr>
          <p:cNvSpPr>
            <a:spLocks xmlns:a="http://schemas.openxmlformats.org/drawingml/2006/main" noGrp="1"/>
          </p:cNvSpPr>
          <p:nvPr/>
        </p:nvSpPr>
        <p:spPr>
          <a:xfrm xmlns:a="http://schemas.openxmlformats.org/drawingml/2006/main">
            <a:off x="1076325" y="401002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Authorize once</a:t>
            </a:r>
          </a:p>
        </p:txBody>
      </p:sp>
      <p:sp>
        <p:nvSpPr>
          <p:cNvPr id="14" name="">
            <a:extLst xmlns:a="http://schemas.openxmlformats.org/drawingml/2006/main">
              <a:ext uri="{FF2B5EF4-FFF2-40B4-BE49-F238E27FC236}">
                <a16:creationId xmlns:a16="http://schemas.microsoft.com/office/drawing/2014/main" id="{B035F889-AD95-48D9-ACF7-83A8C17F6193}"/>
              </a:ext>
            </a:extLst>
          </p:cNvPr>
          <p:cNvSpPr>
            <a:spLocks xmlns:a="http://schemas.openxmlformats.org/drawingml/2006/main" noGrp="1"/>
          </p:cNvSpPr>
          <p:nvPr/>
        </p:nvSpPr>
        <p:spPr>
          <a:xfrm xmlns:a="http://schemas.openxmlformats.org/drawingml/2006/main">
            <a:off x="1076325" y="4333875"/>
            <a:ext cx="238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The approval fixes the payee, amount, reference, and maximum.</a:t>
            </a:r>
          </a:p>
        </p:txBody>
      </p:sp>
      <p:sp>
        <p:nvSpPr>
          <p:cNvPr id="15" name="">
            <a:extLst xmlns:a="http://schemas.openxmlformats.org/drawingml/2006/main">
              <a:ext uri="{FF2B5EF4-FFF2-40B4-BE49-F238E27FC236}">
                <a16:creationId xmlns:a16="http://schemas.microsoft.com/office/drawing/2014/main" id="{7B621967-A948-4761-A633-0D84EBF7DE40}"/>
              </a:ext>
            </a:extLst>
          </p:cNvPr>
          <p:cNvSpPr>
            <a:spLocks xmlns:a="http://schemas.openxmlformats.org/drawingml/2006/main" noGrp="1"/>
          </p:cNvSpPr>
          <p:nvPr/>
        </p:nvSpPr>
        <p:spPr>
          <a:xfrm xmlns:a="http://schemas.openxmlformats.org/drawingml/2006/main">
            <a:off x="571500" y="50196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D8FF55"/>
                </a:solidFill>
                <a:latin typeface="Arial"/>
                <a:ea typeface="Arial"/>
                <a:cs typeface="Arial"/>
              </a:defRPr>
            </a:pPr>
            <a:r>
              <a:rPr sz="1200" b="1" i="0">
                <a:solidFill>
                  <a:srgbClr val="D8FF5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7F59083F-4B8C-4139-95FD-D59C0F51A81D}"/>
              </a:ext>
            </a:extLst>
          </p:cNvPr>
          <p:cNvSpPr>
            <a:spLocks xmlns:a="http://schemas.openxmlformats.org/drawingml/2006/main" noGrp="1"/>
          </p:cNvSpPr>
          <p:nvPr/>
        </p:nvSpPr>
        <p:spPr>
          <a:xfrm xmlns:a="http://schemas.openxmlformats.org/drawingml/2006/main">
            <a:off x="1076325" y="49720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Execute and prove</a:t>
            </a:r>
          </a:p>
        </p:txBody>
      </p:sp>
      <p:sp>
        <p:nvSpPr>
          <p:cNvPr id="17" name="">
            <a:extLst xmlns:a="http://schemas.openxmlformats.org/drawingml/2006/main">
              <a:ext uri="{FF2B5EF4-FFF2-40B4-BE49-F238E27FC236}">
                <a16:creationId xmlns:a16="http://schemas.microsoft.com/office/drawing/2014/main" id="{249543F8-9FDA-4810-A0CB-508DA816D0F2}"/>
              </a:ext>
            </a:extLst>
          </p:cNvPr>
          <p:cNvSpPr>
            <a:spLocks xmlns:a="http://schemas.openxmlformats.org/drawingml/2006/main" noGrp="1"/>
          </p:cNvSpPr>
          <p:nvPr/>
        </p:nvSpPr>
        <p:spPr>
          <a:xfrm xmlns:a="http://schemas.openxmlformats.org/drawingml/2006/main">
            <a:off x="1076325" y="5295900"/>
            <a:ext cx="2381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B9C1D2"/>
                </a:solidFill>
                <a:latin typeface="Arial"/>
                <a:ea typeface="Arial"/>
                <a:cs typeface="Arial"/>
              </a:defRPr>
            </a:pPr>
            <a:r>
              <a:rPr sz="1200" b="0" i="0">
                <a:solidFill>
                  <a:srgbClr val="B9C1D2"/>
                </a:solidFill>
                <a:latin typeface="Arial"/>
                <a:ea typeface="Arial"/>
                <a:cs typeface="Arial"/>
              </a:rPr>
              <a:t>Deterministic checks enforce one operation and link the receipt.</a:t>
            </a:r>
          </a:p>
        </p:txBody>
      </p:sp>
      <p:sp>
        <p:nvSpPr>
          <p:cNvPr id="18" name="">
            <a:extLst xmlns:a="http://schemas.openxmlformats.org/drawingml/2006/main">
              <a:ext uri="{FF2B5EF4-FFF2-40B4-BE49-F238E27FC236}">
                <a16:creationId xmlns:a16="http://schemas.microsoft.com/office/drawing/2014/main" id="{C5076D7D-F20E-413C-9ADD-20ACF18CA6A9}"/>
              </a:ext>
            </a:extLst>
          </p:cNvPr>
          <p:cNvSpPr>
            <a:spLocks xmlns:a="http://schemas.openxmlformats.org/drawingml/2006/main" noGrp="1"/>
          </p:cNvSpPr>
          <p:nvPr/>
        </p:nvSpPr>
        <p:spPr>
          <a:xfrm xmlns:a="http://schemas.openxmlformats.org/drawingml/2006/main">
            <a:off x="552450" y="6057900"/>
            <a:ext cx="2905125" cy="419100"/>
          </a:xfrm>
          <a:prstGeom xmlns:a="http://schemas.openxmlformats.org/drawingml/2006/main" prst="roundRect">
            <a:avLst>
              <a:gd name="adj" fmla="val 27273"/>
            </a:avLst>
          </a:prstGeom>
          <a:solidFill xmlns:a="http://schemas.openxmlformats.org/drawingml/2006/main">
            <a:srgbClr val="18213A"/>
          </a:solidFill>
          <a:ln xmlns:a="http://schemas.openxmlformats.org/drawingml/2006/main" w="0">
            <a:solidFill>
              <a:srgbClr val="18213A"/>
            </a:solidFill>
            <a:prstDash val="solid"/>
          </a:ln>
        </p:spPr>
      </p:sp>
      <p:sp>
        <p:nvSpPr>
          <p:cNvPr id="19" name="">
            <a:extLst xmlns:a="http://schemas.openxmlformats.org/drawingml/2006/main">
              <a:ext uri="{FF2B5EF4-FFF2-40B4-BE49-F238E27FC236}">
                <a16:creationId xmlns:a16="http://schemas.microsoft.com/office/drawing/2014/main" id="{CFC3D92C-12ED-447C-828A-2FD781E230E9}"/>
              </a:ext>
            </a:extLst>
          </p:cNvPr>
          <p:cNvSpPr>
            <a:spLocks xmlns:a="http://schemas.openxmlformats.org/drawingml/2006/main" noGrp="1"/>
          </p:cNvSpPr>
          <p:nvPr/>
        </p:nvSpPr>
        <p:spPr>
          <a:xfrm xmlns:a="http://schemas.openxmlformats.org/drawingml/2006/main">
            <a:off x="676275" y="6124575"/>
            <a:ext cx="266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i="0">
                <a:solidFill>
                  <a:srgbClr val="D8FF55"/>
                </a:solidFill>
                <a:latin typeface="Arial"/>
                <a:ea typeface="Arial"/>
                <a:cs typeface="Arial"/>
              </a:defRPr>
            </a:pPr>
            <a:r>
              <a:rPr sz="900" b="1" i="0">
                <a:solidFill>
                  <a:srgbClr val="D8FF55"/>
                </a:solidFill>
                <a:latin typeface="Arial"/>
                <a:ea typeface="Arial"/>
                <a:cs typeface="Arial"/>
              </a:rPr>
              <a:t>SIMULATED USDC IN   SIMULATED USD OUT</a:t>
            </a:r>
          </a:p>
        </p:txBody>
      </p:sp>
      <p:sp>
        <p:nvSpPr>
          <p:cNvPr id="20" name="">
            <a:extLst xmlns:a="http://schemas.openxmlformats.org/drawingml/2006/main">
              <a:ext uri="{FF2B5EF4-FFF2-40B4-BE49-F238E27FC236}">
                <a16:creationId xmlns:a16="http://schemas.microsoft.com/office/drawing/2014/main" id="{A3E8CED8-DEC6-4588-8D75-5059A22A6D6D}"/>
              </a:ext>
            </a:extLst>
          </p:cNvPr>
          <p:cNvSpPr>
            <a:spLocks xmlns:a="http://schemas.openxmlformats.org/drawingml/2006/main" noGrp="1"/>
          </p:cNvSpPr>
          <p:nvPr/>
        </p:nvSpPr>
        <p:spPr>
          <a:xfrm xmlns:a="http://schemas.openxmlformats.org/drawingml/2006/main">
            <a:off x="3762375" y="1933575"/>
            <a:ext cx="7877175" cy="4286250"/>
          </a:xfrm>
          <a:prstGeom xmlns:a="http://schemas.openxmlformats.org/drawingml/2006/main" prst="roundRect">
            <a:avLst>
              <a:gd name="adj" fmla="val 4444"/>
            </a:avLst>
          </a:prstGeom>
          <a:solidFill xmlns:a="http://schemas.openxmlformats.org/drawingml/2006/main">
            <a:srgbClr val="222D4B"/>
          </a:solidFill>
          <a:ln xmlns:a="http://schemas.openxmlformats.org/drawingml/2006/main" w="19050">
            <a:solidFill>
              <a:srgbClr val="34415F"/>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d61343cc2684d35"/>
          <a:srcRect xmlns:a="http://schemas.openxmlformats.org/drawingml/2006/main" l="0" t="8574" r="0" b="8574"/>
          <a:stretch xmlns:a="http://schemas.openxmlformats.org/drawingml/2006/main">
            <a:fillRect l="0" t="0" r="0" b="0"/>
          </a:stretch>
        </p:blipFill>
        <p:spPr>
          <a:xfrm xmlns:a="http://schemas.openxmlformats.org/drawingml/2006/main">
            <a:off x="3886200" y="2057400"/>
            <a:ext cx="7629525" cy="4038600"/>
          </a:xfrm>
          <a:prstGeom xmlns:a="http://schemas.openxmlformats.org/drawingml/2006/main" prst="roundRect">
            <a:avLst>
              <a:gd name="adj" fmla="val 3774"/>
            </a:avLst>
          </a:prstGeom>
        </p:spPr>
      </p:pic>
      <p:sp>
        <p:nvSpPr>
          <p:cNvPr id="22" name="">
            <a:extLst xmlns:a="http://schemas.openxmlformats.org/drawingml/2006/main">
              <a:ext uri="{FF2B5EF4-FFF2-40B4-BE49-F238E27FC236}">
                <a16:creationId xmlns:a16="http://schemas.microsoft.com/office/drawing/2014/main" id="{4D808F9A-B464-4524-A1B1-C1AE1E543396}"/>
              </a:ext>
            </a:extLst>
          </p:cNvPr>
          <p:cNvSpPr>
            <a:spLocks xmlns:a="http://schemas.openxmlformats.org/drawingml/2006/main" noGrp="1"/>
          </p:cNvSpPr>
          <p:nvPr/>
        </p:nvSpPr>
        <p:spPr>
          <a:xfrm xmlns:a="http://schemas.openxmlformats.org/drawingml/2006/main">
            <a:off x="9686925" y="1724025"/>
            <a:ext cx="1828800" cy="361950"/>
          </a:xfrm>
          <a:prstGeom xmlns:a="http://schemas.openxmlformats.org/drawingml/2006/main" prst="roundRect">
            <a:avLst>
              <a:gd name="adj" fmla="val 31579"/>
            </a:avLst>
          </a:prstGeom>
          <a:solidFill xmlns:a="http://schemas.openxmlformats.org/drawingml/2006/main">
            <a:srgbClr val="D8FF55"/>
          </a:solidFill>
          <a:ln xmlns:a="http://schemas.openxmlformats.org/drawingml/2006/main" w="0">
            <a:solidFill>
              <a:srgbClr val="D8FF55"/>
            </a:solidFill>
            <a:prstDash val="solid"/>
          </a:ln>
        </p:spPr>
      </p:sp>
      <p:sp>
        <p:nvSpPr>
          <p:cNvPr id="23" name="">
            <a:extLst xmlns:a="http://schemas.openxmlformats.org/drawingml/2006/main">
              <a:ext uri="{FF2B5EF4-FFF2-40B4-BE49-F238E27FC236}">
                <a16:creationId xmlns:a16="http://schemas.microsoft.com/office/drawing/2014/main" id="{2C5BD808-E443-4942-B476-636C8C7CCC41}"/>
              </a:ext>
            </a:extLst>
          </p:cNvPr>
          <p:cNvSpPr>
            <a:spLocks xmlns:a="http://schemas.openxmlformats.org/drawingml/2006/main" noGrp="1"/>
          </p:cNvSpPr>
          <p:nvPr/>
        </p:nvSpPr>
        <p:spPr>
          <a:xfrm xmlns:a="http://schemas.openxmlformats.org/drawingml/2006/main">
            <a:off x="9801225" y="1781175"/>
            <a:ext cx="15906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i="0">
                <a:solidFill>
                  <a:srgbClr val="101629"/>
                </a:solidFill>
                <a:latin typeface="Arial"/>
                <a:ea typeface="Arial"/>
                <a:cs typeface="Arial"/>
              </a:defRPr>
            </a:pPr>
            <a:r>
              <a:rPr sz="900" b="1" i="0">
                <a:solidFill>
                  <a:srgbClr val="101629"/>
                </a:solidFill>
                <a:latin typeface="Arial"/>
                <a:ea typeface="Arial"/>
                <a:cs typeface="Arial"/>
              </a:rPr>
              <a:t>WORKING LOCAL MVP</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d2c161eaffa34133"/>
          <a:srcRect xmlns:a="http://schemas.openxmlformats.org/drawingml/2006/main" l="0" t="11839" r="0" b="11839"/>
          <a:stretch xmlns:a="http://schemas.openxmlformats.org/drawingml/2006/main">
            <a:fillRect l="0" t="0" r="0" b="0"/>
          </a:stretch>
        </p:blipFill>
        <p:spPr>
          <a:xfrm xmlns:a="http://schemas.openxmlformats.org/drawingml/2006/main">
            <a:off x="8705850" y="4514850"/>
            <a:ext cx="2609850" cy="1409700"/>
          </a:xfrm>
          <a:prstGeom xmlns:a="http://schemas.openxmlformats.org/drawingml/2006/main" prst="roundRect">
            <a:avLst>
              <a:gd name="adj" fmla="val 8784"/>
            </a:avLst>
          </a:prstGeom>
        </p:spPr>
      </p:pic>
      <p:sp>
        <p:nvSpPr>
          <p:cNvPr id="25" name="">
            <a:extLst xmlns:a="http://schemas.openxmlformats.org/drawingml/2006/main">
              <a:ext uri="{FF2B5EF4-FFF2-40B4-BE49-F238E27FC236}">
                <a16:creationId xmlns:a16="http://schemas.microsoft.com/office/drawing/2014/main" id="{8AC1ED2A-61A7-4F15-AC75-98F8DE4FAD8D}"/>
              </a:ext>
            </a:extLst>
          </p:cNvPr>
          <p:cNvSpPr>
            <a:spLocks xmlns:a="http://schemas.openxmlformats.org/drawingml/2006/main" noGrp="1"/>
          </p:cNvSpPr>
          <p:nvPr/>
        </p:nvSpPr>
        <p:spPr>
          <a:xfrm xmlns:a="http://schemas.openxmlformats.org/drawingml/2006/main">
            <a:off x="3752850" y="6334125"/>
            <a:ext cx="790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i="0">
                <a:solidFill>
                  <a:srgbClr val="8F9AB4"/>
                </a:solidFill>
                <a:latin typeface="Arial"/>
                <a:ea typeface="Arial"/>
                <a:cs typeface="Arial"/>
              </a:defRPr>
            </a:pPr>
            <a:r>
              <a:rPr sz="975" b="0" i="0">
                <a:solidFill>
                  <a:srgbClr val="8F9AB4"/>
                </a:solidFill>
                <a:latin typeface="Arial"/>
                <a:ea typeface="Arial"/>
                <a:cs typeface="Arial"/>
              </a:rPr>
              <a:t>No live wallet, bank, chain, merchant, or government API is connected in this MVP.</a:t>
            </a:r>
          </a:p>
        </p:txBody>
      </p:sp>
    </p:spTree>
    <p:extLst>
      <p:ext uri="{BB962C8B-B14F-4D97-AF65-F5344CB8AC3E}">
        <p14:creationId xmlns:p14="http://schemas.microsoft.com/office/powerpoint/2010/main" val="1559113274"/>
      </p:ext>
    </p:extLst>
  </p:cSld>
</p:sld>
</file>

<file path=ppt/slides/slide4.xml><?xml version="1.0" encoding="utf-8"?>
<p:sld xmlns:p="http://schemas.openxmlformats.org/presentationml/2006/main">
  <p:cSld>
    <p:bg>
      <p:bgPr>
        <a:solidFill xmlns:a="http://schemas.openxmlformats.org/drawingml/2006/main">
          <a:srgbClr val="F3F1EA"/>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CBD24C40-7F61-409C-BFB2-8FCF33AE4E41}"/>
              </a:ext>
            </a:extLst>
          </p:cNvPr>
          <p:cNvSpPr>
            <a:spLocks xmlns:a="http://schemas.openxmlformats.org/drawingml/2006/main" noGrp="1"/>
          </p:cNvSpPr>
          <p:nvPr/>
        </p:nvSpPr>
        <p:spPr>
          <a:xfrm xmlns:a="http://schemas.openxmlformats.org/drawingml/2006/main">
            <a:off x="552450" y="342900"/>
            <a:ext cx="323850" cy="323850"/>
          </a:xfrm>
          <a:prstGeom xmlns:a="http://schemas.openxmlformats.org/drawingml/2006/main" prst="roundRect">
            <a:avLst>
              <a:gd name="adj" fmla="val 26471"/>
            </a:avLst>
          </a:prstGeom>
          <a:solidFill xmlns:a="http://schemas.openxmlformats.org/drawingml/2006/main">
            <a:srgbClr val="D8FF55"/>
          </a:solidFill>
          <a:ln xmlns:a="http://schemas.openxmlformats.org/drawingml/2006/main" w="0">
            <a:solidFill>
              <a:srgbClr val="D8FF55"/>
            </a:solidFill>
            <a:prstDash val="solid"/>
          </a:ln>
        </p:spPr>
      </p:sp>
      <p:sp>
        <p:nvSpPr>
          <p:cNvPr id="2" name="">
            <a:extLst xmlns:a="http://schemas.openxmlformats.org/drawingml/2006/main">
              <a:ext uri="{FF2B5EF4-FFF2-40B4-BE49-F238E27FC236}">
                <a16:creationId xmlns:a16="http://schemas.microsoft.com/office/drawing/2014/main" id="{88BC88A3-7326-46C1-9615-6133790926C4}"/>
              </a:ext>
            </a:extLst>
          </p:cNvPr>
          <p:cNvSpPr>
            <a:spLocks xmlns:a="http://schemas.openxmlformats.org/drawingml/2006/main" noGrp="1"/>
          </p:cNvSpPr>
          <p:nvPr/>
        </p:nvSpPr>
        <p:spPr>
          <a:xfrm xmlns:a="http://schemas.openxmlformats.org/drawingml/2006/main">
            <a:off x="552450" y="3429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101629"/>
                </a:solidFill>
                <a:latin typeface="Arial"/>
                <a:ea typeface="Arial"/>
                <a:cs typeface="Arial"/>
              </a:defRPr>
            </a:pPr>
            <a:r>
              <a:rPr sz="1350" b="1" i="0">
                <a:solidFill>
                  <a:srgbClr val="101629"/>
                </a:solidFill>
                <a:latin typeface="Arial"/>
                <a:ea typeface="Arial"/>
                <a:cs typeface="Arial"/>
              </a:rPr>
              <a:t>B</a:t>
            </a:r>
          </a:p>
        </p:txBody>
      </p:sp>
      <p:sp>
        <p:nvSpPr>
          <p:cNvPr id="3" name="">
            <a:extLst xmlns:a="http://schemas.openxmlformats.org/drawingml/2006/main">
              <a:ext uri="{FF2B5EF4-FFF2-40B4-BE49-F238E27FC236}">
                <a16:creationId xmlns:a16="http://schemas.microsoft.com/office/drawing/2014/main" id="{6CB81B34-C4A0-4DDB-B9F9-9C6F95FA920C}"/>
              </a:ext>
            </a:extLst>
          </p:cNvPr>
          <p:cNvSpPr>
            <a:spLocks xmlns:a="http://schemas.openxmlformats.org/drawingml/2006/main" noGrp="1"/>
          </p:cNvSpPr>
          <p:nvPr/>
        </p:nvSpPr>
        <p:spPr>
          <a:xfrm xmlns:a="http://schemas.openxmlformats.org/drawingml/2006/main">
            <a:off x="981075" y="333375"/>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01629"/>
                </a:solidFill>
                <a:latin typeface="Arial"/>
                <a:ea typeface="Arial"/>
                <a:cs typeface="Arial"/>
              </a:defRPr>
            </a:pPr>
            <a:r>
              <a:rPr sz="1500" b="1" i="0">
                <a:solidFill>
                  <a:srgbClr val="101629"/>
                </a:solidFill>
                <a:latin typeface="Arial"/>
                <a:ea typeface="Arial"/>
                <a:cs typeface="Arial"/>
              </a:rPr>
              <a:t>belay</a:t>
            </a:r>
          </a:p>
        </p:txBody>
      </p:sp>
      <p:sp>
        <p:nvSpPr>
          <p:cNvPr id="4" name="">
            <a:extLst xmlns:a="http://schemas.openxmlformats.org/drawingml/2006/main">
              <a:ext uri="{FF2B5EF4-FFF2-40B4-BE49-F238E27FC236}">
                <a16:creationId xmlns:a16="http://schemas.microsoft.com/office/drawing/2014/main" id="{30D3CFC1-8E17-429A-84A6-4722791D056A}"/>
              </a:ext>
            </a:extLst>
          </p:cNvPr>
          <p:cNvSpPr>
            <a:spLocks xmlns:a="http://schemas.openxmlformats.org/drawingml/2006/main" noGrp="1"/>
          </p:cNvSpPr>
          <p:nvPr/>
        </p:nvSpPr>
        <p:spPr>
          <a:xfrm xmlns:a="http://schemas.openxmlformats.org/drawingml/2006/main">
            <a:off x="552450" y="8286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225" b="0" i="0">
                <a:solidFill>
                  <a:srgbClr val="111628"/>
                </a:solidFill>
                <a:latin typeface="Georgia"/>
                <a:ea typeface="Georgia"/>
                <a:cs typeface="Georgia"/>
              </a:defRPr>
            </a:pPr>
            <a:r>
              <a:rPr sz="3225" b="0" i="0">
                <a:solidFill>
                  <a:srgbClr val="111628"/>
                </a:solidFill>
                <a:latin typeface="Georgia"/>
                <a:ea typeface="Georgia"/>
                <a:cs typeface="Georgia"/>
              </a:rPr>
              <a:t>Business model, ecosystem, and pre-seed ask</a:t>
            </a:r>
          </a:p>
        </p:txBody>
      </p:sp>
      <p:sp>
        <p:nvSpPr>
          <p:cNvPr id="5" name="">
            <a:extLst xmlns:a="http://schemas.openxmlformats.org/drawingml/2006/main">
              <a:ext uri="{FF2B5EF4-FFF2-40B4-BE49-F238E27FC236}">
                <a16:creationId xmlns:a16="http://schemas.microsoft.com/office/drawing/2014/main" id="{D265D2E5-5EEB-4D22-9D69-37569C12021D}"/>
              </a:ext>
            </a:extLst>
          </p:cNvPr>
          <p:cNvSpPr>
            <a:spLocks xmlns:a="http://schemas.openxmlformats.org/drawingml/2006/main" noGrp="1"/>
          </p:cNvSpPr>
          <p:nvPr/>
        </p:nvSpPr>
        <p:spPr>
          <a:xfrm xmlns:a="http://schemas.openxmlformats.org/drawingml/2006/main">
            <a:off x="571500" y="1657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5268FF"/>
                </a:solidFill>
                <a:latin typeface="Arial"/>
                <a:ea typeface="Arial"/>
                <a:cs typeface="Arial"/>
              </a:defRPr>
            </a:pPr>
            <a:r>
              <a:rPr sz="975" b="1" i="0">
                <a:solidFill>
                  <a:srgbClr val="5268FF"/>
                </a:solidFill>
                <a:latin typeface="Arial"/>
                <a:ea typeface="Arial"/>
                <a:cs typeface="Arial"/>
              </a:rPr>
              <a:t>PROPOSED PRICING</a:t>
            </a:r>
          </a:p>
        </p:txBody>
      </p:sp>
      <p:sp>
        <p:nvSpPr>
          <p:cNvPr id="6" name="">
            <a:extLst xmlns:a="http://schemas.openxmlformats.org/drawingml/2006/main">
              <a:ext uri="{FF2B5EF4-FFF2-40B4-BE49-F238E27FC236}">
                <a16:creationId xmlns:a16="http://schemas.microsoft.com/office/drawing/2014/main" id="{D45E7770-7DC9-4C6D-A5C4-31B2E04D92E3}"/>
              </a:ext>
            </a:extLst>
          </p:cNvPr>
          <p:cNvSpPr>
            <a:spLocks xmlns:a="http://schemas.openxmlformats.org/drawingml/2006/main" noGrp="1"/>
          </p:cNvSpPr>
          <p:nvPr/>
        </p:nvSpPr>
        <p:spPr>
          <a:xfrm xmlns:a="http://schemas.openxmlformats.org/drawingml/2006/main">
            <a:off x="571500" y="1933575"/>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775" b="0" i="0">
                <a:solidFill>
                  <a:srgbClr val="111628"/>
                </a:solidFill>
                <a:latin typeface="Georgia"/>
                <a:ea typeface="Georgia"/>
                <a:cs typeface="Georgia"/>
              </a:defRPr>
            </a:pPr>
            <a:r>
              <a:rPr sz="2775" b="0" i="0">
                <a:solidFill>
                  <a:srgbClr val="111628"/>
                </a:solidFill>
                <a:latin typeface="Georgia"/>
                <a:ea typeface="Georgia"/>
                <a:cs typeface="Georgia"/>
              </a:rPr>
              <a:t>$2,000 / month</a:t>
            </a:r>
          </a:p>
        </p:txBody>
      </p:sp>
      <p:sp>
        <p:nvSpPr>
          <p:cNvPr id="7" name="">
            <a:extLst xmlns:a="http://schemas.openxmlformats.org/drawingml/2006/main">
              <a:ext uri="{FF2B5EF4-FFF2-40B4-BE49-F238E27FC236}">
                <a16:creationId xmlns:a16="http://schemas.microsoft.com/office/drawing/2014/main" id="{4E3976F2-8E6B-4E7C-8DF2-A9DF25ED7F55}"/>
              </a:ext>
            </a:extLst>
          </p:cNvPr>
          <p:cNvSpPr>
            <a:spLocks xmlns:a="http://schemas.openxmlformats.org/drawingml/2006/main" noGrp="1"/>
          </p:cNvSpPr>
          <p:nvPr/>
        </p:nvSpPr>
        <p:spPr>
          <a:xfrm xmlns:a="http://schemas.openxmlformats.org/drawingml/2006/main">
            <a:off x="571500" y="244792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29324A"/>
                </a:solidFill>
                <a:latin typeface="Arial"/>
                <a:ea typeface="Arial"/>
                <a:cs typeface="Arial"/>
              </a:defRPr>
            </a:pPr>
            <a:r>
              <a:rPr sz="1650" b="1" i="0">
                <a:solidFill>
                  <a:srgbClr val="29324A"/>
                </a:solidFill>
                <a:latin typeface="Arial"/>
                <a:ea typeface="Arial"/>
                <a:cs typeface="Arial"/>
              </a:rPr>
              <a:t>+ $0.25 per controlled operation</a:t>
            </a:r>
          </a:p>
        </p:txBody>
      </p:sp>
      <p:sp>
        <p:nvSpPr>
          <p:cNvPr id="8" name="">
            <a:extLst xmlns:a="http://schemas.openxmlformats.org/drawingml/2006/main">
              <a:ext uri="{FF2B5EF4-FFF2-40B4-BE49-F238E27FC236}">
                <a16:creationId xmlns:a16="http://schemas.microsoft.com/office/drawing/2014/main" id="{209E93F4-C503-495F-97F4-C855AB18A47E}"/>
              </a:ext>
            </a:extLst>
          </p:cNvPr>
          <p:cNvSpPr>
            <a:spLocks xmlns:a="http://schemas.openxmlformats.org/drawingml/2006/main" noGrp="1"/>
          </p:cNvSpPr>
          <p:nvPr/>
        </p:nvSpPr>
        <p:spPr>
          <a:xfrm xmlns:a="http://schemas.openxmlformats.org/drawingml/2006/main">
            <a:off x="571500" y="2847975"/>
            <a:ext cx="519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97186"/>
                </a:solidFill>
                <a:latin typeface="Arial"/>
                <a:ea typeface="Arial"/>
                <a:cs typeface="Arial"/>
              </a:defRPr>
            </a:pPr>
            <a:r>
              <a:rPr sz="1200" b="0" i="0">
                <a:solidFill>
                  <a:srgbClr val="697186"/>
                </a:solidFill>
                <a:latin typeface="Arial"/>
                <a:ea typeface="Arial"/>
                <a:cs typeface="Arial"/>
              </a:rPr>
              <a:t>No Belay percentage take rate. External network, conversion, and payout fees pass through.</a:t>
            </a:r>
          </a:p>
        </p:txBody>
      </p:sp>
      <p:sp>
        <p:nvSpPr>
          <p:cNvPr id="9" name="">
            <a:extLst xmlns:a="http://schemas.openxmlformats.org/drawingml/2006/main">
              <a:ext uri="{FF2B5EF4-FFF2-40B4-BE49-F238E27FC236}">
                <a16:creationId xmlns:a16="http://schemas.microsoft.com/office/drawing/2014/main" id="{E91E960E-779A-4A02-8C56-1E57032BB9F8}"/>
              </a:ext>
            </a:extLst>
          </p:cNvPr>
          <p:cNvSpPr>
            <a:spLocks xmlns:a="http://schemas.openxmlformats.org/drawingml/2006/main" noGrp="1"/>
          </p:cNvSpPr>
          <p:nvPr/>
        </p:nvSpPr>
        <p:spPr>
          <a:xfrm xmlns:a="http://schemas.openxmlformats.org/drawingml/2006/main">
            <a:off x="571500" y="3581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5268FF"/>
                </a:solidFill>
                <a:latin typeface="Arial"/>
                <a:ea typeface="Arial"/>
                <a:cs typeface="Arial"/>
              </a:defRPr>
            </a:pPr>
            <a:r>
              <a:rPr sz="975" b="1" i="0">
                <a:solidFill>
                  <a:srgbClr val="5268FF"/>
                </a:solidFill>
                <a:latin typeface="Arial"/>
                <a:ea typeface="Arial"/>
                <a:cs typeface="Arial"/>
              </a:rPr>
              <a:t>ILLUSTRATIVE ECONOMICS</a:t>
            </a:r>
          </a:p>
        </p:txBody>
      </p:sp>
      <p:sp>
        <p:nvSpPr>
          <p:cNvPr id="10" name="">
            <a:extLst xmlns:a="http://schemas.openxmlformats.org/drawingml/2006/main">
              <a:ext uri="{FF2B5EF4-FFF2-40B4-BE49-F238E27FC236}">
                <a16:creationId xmlns:a16="http://schemas.microsoft.com/office/drawing/2014/main" id="{358A066C-8E40-4C90-B81E-CE3A2CBA1CBA}"/>
              </a:ext>
            </a:extLst>
          </p:cNvPr>
          <p:cNvSpPr>
            <a:spLocks xmlns:a="http://schemas.openxmlformats.org/drawingml/2006/main" noGrp="1"/>
          </p:cNvSpPr>
          <p:nvPr/>
        </p:nvSpPr>
        <p:spPr>
          <a:xfrm xmlns:a="http://schemas.openxmlformats.org/drawingml/2006/main">
            <a:off x="571500" y="3867150"/>
            <a:ext cx="1666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325" b="0" i="0">
                <a:solidFill>
                  <a:srgbClr val="111628"/>
                </a:solidFill>
                <a:latin typeface="Georgia"/>
                <a:ea typeface="Georgia"/>
                <a:cs typeface="Georgia"/>
              </a:defRPr>
            </a:pPr>
            <a:r>
              <a:rPr sz="2325" b="0" i="0">
                <a:solidFill>
                  <a:srgbClr val="111628"/>
                </a:solidFill>
                <a:latin typeface="Georgia"/>
                <a:ea typeface="Georgia"/>
                <a:cs typeface="Georgia"/>
              </a:rPr>
              <a:t>$36.5K</a:t>
            </a:r>
          </a:p>
        </p:txBody>
      </p:sp>
      <p:sp>
        <p:nvSpPr>
          <p:cNvPr id="11" name="">
            <a:extLst xmlns:a="http://schemas.openxmlformats.org/drawingml/2006/main">
              <a:ext uri="{FF2B5EF4-FFF2-40B4-BE49-F238E27FC236}">
                <a16:creationId xmlns:a16="http://schemas.microsoft.com/office/drawing/2014/main" id="{62A67E3C-0EC9-4C46-A3F3-2294E18B7F35}"/>
              </a:ext>
            </a:extLst>
          </p:cNvPr>
          <p:cNvSpPr>
            <a:spLocks xmlns:a="http://schemas.openxmlformats.org/drawingml/2006/main" noGrp="1"/>
          </p:cNvSpPr>
          <p:nvPr/>
        </p:nvSpPr>
        <p:spPr>
          <a:xfrm xmlns:a="http://schemas.openxmlformats.org/drawingml/2006/main">
            <a:off x="571500" y="433387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i="0">
                <a:solidFill>
                  <a:srgbClr val="697186"/>
                </a:solidFill>
                <a:latin typeface="Arial"/>
                <a:ea typeface="Arial"/>
                <a:cs typeface="Arial"/>
              </a:defRPr>
            </a:pPr>
            <a:r>
              <a:rPr sz="1050" b="0" i="0">
                <a:solidFill>
                  <a:srgbClr val="697186"/>
                </a:solidFill>
                <a:latin typeface="Arial"/>
                <a:ea typeface="Arial"/>
                <a:cs typeface="Arial"/>
              </a:rPr>
              <a:t>annual revenue per customer</a:t>
            </a:r>
          </a:p>
        </p:txBody>
      </p:sp>
      <p:sp>
        <p:nvSpPr>
          <p:cNvPr id="12" name="">
            <a:extLst xmlns:a="http://schemas.openxmlformats.org/drawingml/2006/main">
              <a:ext uri="{FF2B5EF4-FFF2-40B4-BE49-F238E27FC236}">
                <a16:creationId xmlns:a16="http://schemas.microsoft.com/office/drawing/2014/main" id="{727223A5-988C-47E7-B647-9737D76051F3}"/>
              </a:ext>
            </a:extLst>
          </p:cNvPr>
          <p:cNvSpPr>
            <a:spLocks xmlns:a="http://schemas.openxmlformats.org/drawingml/2006/main" noGrp="1"/>
          </p:cNvSpPr>
          <p:nvPr/>
        </p:nvSpPr>
        <p:spPr>
          <a:xfrm xmlns:a="http://schemas.openxmlformats.org/drawingml/2006/main">
            <a:off x="2400300" y="3867150"/>
            <a:ext cx="1666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325" b="0" i="0">
                <a:solidFill>
                  <a:srgbClr val="147548"/>
                </a:solidFill>
                <a:latin typeface="Georgia"/>
                <a:ea typeface="Georgia"/>
                <a:cs typeface="Georgia"/>
              </a:defRPr>
            </a:pPr>
            <a:r>
              <a:rPr sz="2325" b="0" i="0">
                <a:solidFill>
                  <a:srgbClr val="147548"/>
                </a:solidFill>
                <a:latin typeface="Georgia"/>
                <a:ea typeface="Georgia"/>
                <a:cs typeface="Georgia"/>
              </a:rPr>
              <a:t>~85%</a:t>
            </a:r>
          </a:p>
        </p:txBody>
      </p:sp>
      <p:sp>
        <p:nvSpPr>
          <p:cNvPr id="13" name="">
            <a:extLst xmlns:a="http://schemas.openxmlformats.org/drawingml/2006/main">
              <a:ext uri="{FF2B5EF4-FFF2-40B4-BE49-F238E27FC236}">
                <a16:creationId xmlns:a16="http://schemas.microsoft.com/office/drawing/2014/main" id="{21ECD080-9203-4392-A3B2-4E54E796258A}"/>
              </a:ext>
            </a:extLst>
          </p:cNvPr>
          <p:cNvSpPr>
            <a:spLocks xmlns:a="http://schemas.openxmlformats.org/drawingml/2006/main" noGrp="1"/>
          </p:cNvSpPr>
          <p:nvPr/>
        </p:nvSpPr>
        <p:spPr>
          <a:xfrm xmlns:a="http://schemas.openxmlformats.org/drawingml/2006/main">
            <a:off x="2400300" y="433387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i="0">
                <a:solidFill>
                  <a:srgbClr val="697186"/>
                </a:solidFill>
                <a:latin typeface="Arial"/>
                <a:ea typeface="Arial"/>
                <a:cs typeface="Arial"/>
              </a:defRPr>
            </a:pPr>
            <a:r>
              <a:rPr sz="1050" b="0" i="0">
                <a:solidFill>
                  <a:srgbClr val="697186"/>
                </a:solidFill>
                <a:latin typeface="Arial"/>
                <a:ea typeface="Arial"/>
                <a:cs typeface="Arial"/>
              </a:rPr>
              <a:t>target gross margin</a:t>
            </a:r>
          </a:p>
        </p:txBody>
      </p:sp>
      <p:sp>
        <p:nvSpPr>
          <p:cNvPr id="14" name="">
            <a:extLst xmlns:a="http://schemas.openxmlformats.org/drawingml/2006/main">
              <a:ext uri="{FF2B5EF4-FFF2-40B4-BE49-F238E27FC236}">
                <a16:creationId xmlns:a16="http://schemas.microsoft.com/office/drawing/2014/main" id="{80E393CB-CF31-45AD-B32B-351C397C77A4}"/>
              </a:ext>
            </a:extLst>
          </p:cNvPr>
          <p:cNvSpPr>
            <a:spLocks xmlns:a="http://schemas.openxmlformats.org/drawingml/2006/main" noGrp="1"/>
          </p:cNvSpPr>
          <p:nvPr/>
        </p:nvSpPr>
        <p:spPr>
          <a:xfrm xmlns:a="http://schemas.openxmlformats.org/drawingml/2006/main">
            <a:off x="4229100" y="3867150"/>
            <a:ext cx="1666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325" b="0" i="0">
                <a:solidFill>
                  <a:srgbClr val="111628"/>
                </a:solidFill>
                <a:latin typeface="Georgia"/>
                <a:ea typeface="Georgia"/>
                <a:cs typeface="Georgia"/>
              </a:defRPr>
            </a:pPr>
            <a:r>
              <a:rPr sz="2325" b="0" i="0">
                <a:solidFill>
                  <a:srgbClr val="111628"/>
                </a:solidFill>
                <a:latin typeface="Georgia"/>
                <a:ea typeface="Georgia"/>
                <a:cs typeface="Georgia"/>
              </a:rPr>
              <a:t>$3.65M</a:t>
            </a:r>
          </a:p>
        </p:txBody>
      </p:sp>
      <p:sp>
        <p:nvSpPr>
          <p:cNvPr id="15" name="">
            <a:extLst xmlns:a="http://schemas.openxmlformats.org/drawingml/2006/main">
              <a:ext uri="{FF2B5EF4-FFF2-40B4-BE49-F238E27FC236}">
                <a16:creationId xmlns:a16="http://schemas.microsoft.com/office/drawing/2014/main" id="{2726BC82-397A-48AA-8D3A-9173F23A95DA}"/>
              </a:ext>
            </a:extLst>
          </p:cNvPr>
          <p:cNvSpPr>
            <a:spLocks xmlns:a="http://schemas.openxmlformats.org/drawingml/2006/main" noGrp="1"/>
          </p:cNvSpPr>
          <p:nvPr/>
        </p:nvSpPr>
        <p:spPr>
          <a:xfrm xmlns:a="http://schemas.openxmlformats.org/drawingml/2006/main">
            <a:off x="4229100" y="433387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i="0">
                <a:solidFill>
                  <a:srgbClr val="697186"/>
                </a:solidFill>
                <a:latin typeface="Arial"/>
                <a:ea typeface="Arial"/>
                <a:cs typeface="Arial"/>
              </a:defRPr>
            </a:pPr>
            <a:r>
              <a:rPr sz="1050" b="0" i="0">
                <a:solidFill>
                  <a:srgbClr val="697186"/>
                </a:solidFill>
                <a:latin typeface="Arial"/>
                <a:ea typeface="Arial"/>
                <a:cs typeface="Arial"/>
              </a:rPr>
              <a:t>annual revenue at 100 customers</a:t>
            </a:r>
          </a:p>
        </p:txBody>
      </p:sp>
      <p:sp>
        <p:nvSpPr>
          <p:cNvPr id="16" name="">
            <a:extLst xmlns:a="http://schemas.openxmlformats.org/drawingml/2006/main">
              <a:ext uri="{FF2B5EF4-FFF2-40B4-BE49-F238E27FC236}">
                <a16:creationId xmlns:a16="http://schemas.microsoft.com/office/drawing/2014/main" id="{A0DB2CE2-7A6B-4A14-87F4-CA2693C14D1C}"/>
              </a:ext>
            </a:extLst>
          </p:cNvPr>
          <p:cNvSpPr>
            <a:spLocks xmlns:a="http://schemas.openxmlformats.org/drawingml/2006/main" noGrp="1"/>
          </p:cNvSpPr>
          <p:nvPr/>
        </p:nvSpPr>
        <p:spPr>
          <a:xfrm xmlns:a="http://schemas.openxmlformats.org/drawingml/2006/main">
            <a:off x="571500" y="50577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5268FF"/>
                </a:solidFill>
                <a:latin typeface="Arial"/>
                <a:ea typeface="Arial"/>
                <a:cs typeface="Arial"/>
              </a:defRPr>
            </a:pPr>
            <a:r>
              <a:rPr sz="975" b="1" i="0">
                <a:solidFill>
                  <a:srgbClr val="5268FF"/>
                </a:solidFill>
                <a:latin typeface="Arial"/>
                <a:ea typeface="Arial"/>
                <a:cs typeface="Arial"/>
              </a:rPr>
              <a:t>WHERE BELAY FITS</a:t>
            </a:r>
          </a:p>
        </p:txBody>
      </p:sp>
      <p:sp>
        <p:nvSpPr>
          <p:cNvPr id="17" name="">
            <a:extLst xmlns:a="http://schemas.openxmlformats.org/drawingml/2006/main">
              <a:ext uri="{FF2B5EF4-FFF2-40B4-BE49-F238E27FC236}">
                <a16:creationId xmlns:a16="http://schemas.microsoft.com/office/drawing/2014/main" id="{8E783900-0749-476D-9663-449DE7BAAA97}"/>
              </a:ext>
            </a:extLst>
          </p:cNvPr>
          <p:cNvSpPr>
            <a:spLocks xmlns:a="http://schemas.openxmlformats.org/drawingml/2006/main" noGrp="1"/>
          </p:cNvSpPr>
          <p:nvPr/>
        </p:nvSpPr>
        <p:spPr>
          <a:xfrm xmlns:a="http://schemas.openxmlformats.org/drawingml/2006/main">
            <a:off x="571500" y="5343525"/>
            <a:ext cx="2047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111628"/>
                </a:solidFill>
                <a:latin typeface="Arial"/>
                <a:ea typeface="Arial"/>
                <a:cs typeface="Arial"/>
              </a:defRPr>
            </a:pPr>
            <a:r>
              <a:rPr sz="1200" b="1" i="0">
                <a:solidFill>
                  <a:srgbClr val="111628"/>
                </a:solidFill>
                <a:latin typeface="Arial"/>
                <a:ea typeface="Arial"/>
                <a:cs typeface="Arial"/>
              </a:rPr>
              <a:t>Google AP2</a:t>
            </a:r>
          </a:p>
        </p:txBody>
      </p:sp>
      <p:sp>
        <p:nvSpPr>
          <p:cNvPr id="18" name="">
            <a:extLst xmlns:a="http://schemas.openxmlformats.org/drawingml/2006/main">
              <a:ext uri="{FF2B5EF4-FFF2-40B4-BE49-F238E27FC236}">
                <a16:creationId xmlns:a16="http://schemas.microsoft.com/office/drawing/2014/main" id="{1543898F-36A4-426B-A3AE-4AEBE5DD4A58}"/>
              </a:ext>
            </a:extLst>
          </p:cNvPr>
          <p:cNvSpPr>
            <a:spLocks xmlns:a="http://schemas.openxmlformats.org/drawingml/2006/main" noGrp="1"/>
          </p:cNvSpPr>
          <p:nvPr/>
        </p:nvSpPr>
        <p:spPr>
          <a:xfrm xmlns:a="http://schemas.openxmlformats.org/drawingml/2006/main">
            <a:off x="2667000" y="5343525"/>
            <a:ext cx="34194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97186"/>
                </a:solidFill>
                <a:latin typeface="Arial"/>
                <a:ea typeface="Arial"/>
                <a:cs typeface="Arial"/>
              </a:defRPr>
            </a:pPr>
            <a:r>
              <a:rPr sz="1125" b="0" i="0">
                <a:solidFill>
                  <a:srgbClr val="697186"/>
                </a:solidFill>
                <a:latin typeface="Arial"/>
                <a:ea typeface="Arial"/>
                <a:cs typeface="Arial"/>
              </a:rPr>
              <a:t>Mandate language</a:t>
            </a:r>
          </a:p>
        </p:txBody>
      </p:sp>
      <p:sp>
        <p:nvSpPr>
          <p:cNvPr id="19" name="">
            <a:extLst xmlns:a="http://schemas.openxmlformats.org/drawingml/2006/main">
              <a:ext uri="{FF2B5EF4-FFF2-40B4-BE49-F238E27FC236}">
                <a16:creationId xmlns:a16="http://schemas.microsoft.com/office/drawing/2014/main" id="{EE5A81FE-D201-4322-BB02-0C3F51A53011}"/>
              </a:ext>
            </a:extLst>
          </p:cNvPr>
          <p:cNvSpPr>
            <a:spLocks xmlns:a="http://schemas.openxmlformats.org/drawingml/2006/main" noGrp="1"/>
          </p:cNvSpPr>
          <p:nvPr/>
        </p:nvSpPr>
        <p:spPr>
          <a:xfrm xmlns:a="http://schemas.openxmlformats.org/drawingml/2006/main">
            <a:off x="571500" y="5705475"/>
            <a:ext cx="2047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111628"/>
                </a:solidFill>
                <a:latin typeface="Arial"/>
                <a:ea typeface="Arial"/>
                <a:cs typeface="Arial"/>
              </a:defRPr>
            </a:pPr>
            <a:r>
              <a:rPr sz="1200" b="1" i="0">
                <a:solidFill>
                  <a:srgbClr val="111628"/>
                </a:solidFill>
                <a:latin typeface="Arial"/>
                <a:ea typeface="Arial"/>
                <a:cs typeface="Arial"/>
              </a:rPr>
              <a:t>Stripe, Visa, Mastercard</a:t>
            </a:r>
          </a:p>
        </p:txBody>
      </p:sp>
      <p:sp>
        <p:nvSpPr>
          <p:cNvPr id="20" name="">
            <a:extLst xmlns:a="http://schemas.openxmlformats.org/drawingml/2006/main">
              <a:ext uri="{FF2B5EF4-FFF2-40B4-BE49-F238E27FC236}">
                <a16:creationId xmlns:a16="http://schemas.microsoft.com/office/drawing/2014/main" id="{DE9ABD45-5EF8-4A6E-96A4-AEC4084B16DB}"/>
              </a:ext>
            </a:extLst>
          </p:cNvPr>
          <p:cNvSpPr>
            <a:spLocks xmlns:a="http://schemas.openxmlformats.org/drawingml/2006/main" noGrp="1"/>
          </p:cNvSpPr>
          <p:nvPr/>
        </p:nvSpPr>
        <p:spPr>
          <a:xfrm xmlns:a="http://schemas.openxmlformats.org/drawingml/2006/main">
            <a:off x="2667000" y="5705475"/>
            <a:ext cx="34194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97186"/>
                </a:solidFill>
                <a:latin typeface="Arial"/>
                <a:ea typeface="Arial"/>
                <a:cs typeface="Arial"/>
              </a:defRPr>
            </a:pPr>
            <a:r>
              <a:rPr sz="1125" b="0" i="0">
                <a:solidFill>
                  <a:srgbClr val="697186"/>
                </a:solidFill>
                <a:latin typeface="Arial"/>
                <a:ea typeface="Arial"/>
                <a:cs typeface="Arial"/>
              </a:rPr>
              <a:t>Credentials and rails</a:t>
            </a:r>
          </a:p>
        </p:txBody>
      </p:sp>
      <p:sp>
        <p:nvSpPr>
          <p:cNvPr id="21" name="">
            <a:extLst xmlns:a="http://schemas.openxmlformats.org/drawingml/2006/main">
              <a:ext uri="{FF2B5EF4-FFF2-40B4-BE49-F238E27FC236}">
                <a16:creationId xmlns:a16="http://schemas.microsoft.com/office/drawing/2014/main" id="{43E2A58A-721A-4454-AA86-990128DDD526}"/>
              </a:ext>
            </a:extLst>
          </p:cNvPr>
          <p:cNvSpPr>
            <a:spLocks xmlns:a="http://schemas.openxmlformats.org/drawingml/2006/main" noGrp="1"/>
          </p:cNvSpPr>
          <p:nvPr/>
        </p:nvSpPr>
        <p:spPr>
          <a:xfrm xmlns:a="http://schemas.openxmlformats.org/drawingml/2006/main">
            <a:off x="571500" y="6067425"/>
            <a:ext cx="2047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5268FF"/>
                </a:solidFill>
                <a:latin typeface="Arial"/>
                <a:ea typeface="Arial"/>
                <a:cs typeface="Arial"/>
              </a:defRPr>
            </a:pPr>
            <a:r>
              <a:rPr sz="1200" b="1" i="0">
                <a:solidFill>
                  <a:srgbClr val="5268FF"/>
                </a:solidFill>
                <a:latin typeface="Arial"/>
                <a:ea typeface="Arial"/>
                <a:cs typeface="Arial"/>
              </a:rPr>
              <a:t>Belay</a:t>
            </a:r>
          </a:p>
        </p:txBody>
      </p:sp>
      <p:sp>
        <p:nvSpPr>
          <p:cNvPr id="22" name="">
            <a:extLst xmlns:a="http://schemas.openxmlformats.org/drawingml/2006/main">
              <a:ext uri="{FF2B5EF4-FFF2-40B4-BE49-F238E27FC236}">
                <a16:creationId xmlns:a16="http://schemas.microsoft.com/office/drawing/2014/main" id="{3BDF2F60-A388-4109-82E5-75185A734A64}"/>
              </a:ext>
            </a:extLst>
          </p:cNvPr>
          <p:cNvSpPr>
            <a:spLocks xmlns:a="http://schemas.openxmlformats.org/drawingml/2006/main" noGrp="1"/>
          </p:cNvSpPr>
          <p:nvPr/>
        </p:nvSpPr>
        <p:spPr>
          <a:xfrm xmlns:a="http://schemas.openxmlformats.org/drawingml/2006/main">
            <a:off x="2667000" y="6067425"/>
            <a:ext cx="34194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97186"/>
                </a:solidFill>
                <a:latin typeface="Arial"/>
                <a:ea typeface="Arial"/>
                <a:cs typeface="Arial"/>
              </a:defRPr>
            </a:pPr>
            <a:r>
              <a:rPr sz="1125" b="0" i="0">
                <a:solidFill>
                  <a:srgbClr val="697186"/>
                </a:solidFill>
                <a:latin typeface="Arial"/>
                <a:ea typeface="Arial"/>
                <a:cs typeface="Arial"/>
              </a:rPr>
              <a:t>Execution control, recovery, and linked evidence</a:t>
            </a:r>
          </a:p>
        </p:txBody>
      </p:sp>
      <p:sp>
        <p:nvSpPr>
          <p:cNvPr id="23" name="">
            <a:extLst xmlns:a="http://schemas.openxmlformats.org/drawingml/2006/main">
              <a:ext uri="{FF2B5EF4-FFF2-40B4-BE49-F238E27FC236}">
                <a16:creationId xmlns:a16="http://schemas.microsoft.com/office/drawing/2014/main" id="{250EAEB6-75FF-42C6-AF7D-020C7A4B4950}"/>
              </a:ext>
            </a:extLst>
          </p:cNvPr>
          <p:cNvSpPr>
            <a:spLocks xmlns:a="http://schemas.openxmlformats.org/drawingml/2006/main" noGrp="1"/>
          </p:cNvSpPr>
          <p:nvPr/>
        </p:nvSpPr>
        <p:spPr>
          <a:xfrm xmlns:a="http://schemas.openxmlformats.org/drawingml/2006/main">
            <a:off x="6515100" y="1438275"/>
            <a:ext cx="5105400" cy="4895850"/>
          </a:xfrm>
          <a:prstGeom xmlns:a="http://schemas.openxmlformats.org/drawingml/2006/main" prst="roundRect">
            <a:avLst>
              <a:gd name="adj" fmla="val 4864"/>
            </a:avLst>
          </a:prstGeom>
          <a:solidFill xmlns:a="http://schemas.openxmlformats.org/drawingml/2006/main">
            <a:srgbClr val="101629"/>
          </a:solidFill>
          <a:ln xmlns:a="http://schemas.openxmlformats.org/drawingml/2006/main" w="0">
            <a:solidFill>
              <a:srgbClr val="101629"/>
            </a:solidFill>
            <a:prstDash val="solid"/>
          </a:ln>
        </p:spPr>
      </p:sp>
      <p:sp>
        <p:nvSpPr>
          <p:cNvPr id="24" name="">
            <a:extLst xmlns:a="http://schemas.openxmlformats.org/drawingml/2006/main">
              <a:ext uri="{FF2B5EF4-FFF2-40B4-BE49-F238E27FC236}">
                <a16:creationId xmlns:a16="http://schemas.microsoft.com/office/drawing/2014/main" id="{41B2AF6A-E238-44DB-BB7C-9BD68DB2B692}"/>
              </a:ext>
            </a:extLst>
          </p:cNvPr>
          <p:cNvSpPr>
            <a:spLocks xmlns:a="http://schemas.openxmlformats.org/drawingml/2006/main" noGrp="1"/>
          </p:cNvSpPr>
          <p:nvPr/>
        </p:nvSpPr>
        <p:spPr>
          <a:xfrm xmlns:a="http://schemas.openxmlformats.org/drawingml/2006/main">
            <a:off x="6867525" y="1752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D8FF55"/>
                </a:solidFill>
                <a:latin typeface="Arial"/>
                <a:ea typeface="Arial"/>
                <a:cs typeface="Arial"/>
              </a:defRPr>
            </a:pPr>
            <a:r>
              <a:rPr sz="975" b="1" i="0">
                <a:solidFill>
                  <a:srgbClr val="D8FF55"/>
                </a:solidFill>
                <a:latin typeface="Arial"/>
                <a:ea typeface="Arial"/>
                <a:cs typeface="Arial"/>
              </a:rPr>
              <a:t>RAISING</a:t>
            </a:r>
          </a:p>
        </p:txBody>
      </p:sp>
      <p:sp>
        <p:nvSpPr>
          <p:cNvPr id="25" name="">
            <a:extLst xmlns:a="http://schemas.openxmlformats.org/drawingml/2006/main">
              <a:ext uri="{FF2B5EF4-FFF2-40B4-BE49-F238E27FC236}">
                <a16:creationId xmlns:a16="http://schemas.microsoft.com/office/drawing/2014/main" id="{A9B2214D-3129-414B-910F-10E0EDB44E1B}"/>
              </a:ext>
            </a:extLst>
          </p:cNvPr>
          <p:cNvSpPr>
            <a:spLocks xmlns:a="http://schemas.openxmlformats.org/drawingml/2006/main" noGrp="1"/>
          </p:cNvSpPr>
          <p:nvPr/>
        </p:nvSpPr>
        <p:spPr>
          <a:xfrm xmlns:a="http://schemas.openxmlformats.org/drawingml/2006/main">
            <a:off x="6848475" y="2038350"/>
            <a:ext cx="2190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4200" b="0" i="0">
                <a:solidFill>
                  <a:srgbClr val="FFFFFF"/>
                </a:solidFill>
                <a:latin typeface="Georgia"/>
                <a:ea typeface="Georgia"/>
                <a:cs typeface="Georgia"/>
              </a:defRPr>
            </a:pPr>
            <a:r>
              <a:rPr sz="4200" b="0" i="0">
                <a:solidFill>
                  <a:srgbClr val="FFFFFF"/>
                </a:solidFill>
                <a:latin typeface="Georgia"/>
                <a:ea typeface="Georgia"/>
                <a:cs typeface="Georgia"/>
              </a:rPr>
              <a:t>$1.5M</a:t>
            </a:r>
          </a:p>
        </p:txBody>
      </p:sp>
      <p:sp>
        <p:nvSpPr>
          <p:cNvPr id="26" name="">
            <a:extLst xmlns:a="http://schemas.openxmlformats.org/drawingml/2006/main">
              <a:ext uri="{FF2B5EF4-FFF2-40B4-BE49-F238E27FC236}">
                <a16:creationId xmlns:a16="http://schemas.microsoft.com/office/drawing/2014/main" id="{88F77370-1931-495E-A81E-9E23521D4BA8}"/>
              </a:ext>
            </a:extLst>
          </p:cNvPr>
          <p:cNvSpPr>
            <a:spLocks xmlns:a="http://schemas.openxmlformats.org/drawingml/2006/main" noGrp="1"/>
          </p:cNvSpPr>
          <p:nvPr/>
        </p:nvSpPr>
        <p:spPr>
          <a:xfrm xmlns:a="http://schemas.openxmlformats.org/drawingml/2006/main">
            <a:off x="9039225" y="2228850"/>
            <a:ext cx="214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050" b="1" i="0">
                <a:solidFill>
                  <a:srgbClr val="B9C1D2"/>
                </a:solidFill>
                <a:latin typeface="Arial"/>
                <a:ea typeface="Arial"/>
                <a:cs typeface="Arial"/>
              </a:defRPr>
            </a:pPr>
            <a:r>
              <a:rPr sz="1050" b="1" i="0">
                <a:solidFill>
                  <a:srgbClr val="B9C1D2"/>
                </a:solidFill>
                <a:latin typeface="Arial"/>
                <a:ea typeface="Arial"/>
                <a:cs typeface="Arial"/>
              </a:rPr>
              <a:t>PRE-SEED   18 MONTHS</a:t>
            </a:r>
          </a:p>
        </p:txBody>
      </p:sp>
      <p:sp>
        <p:nvSpPr>
          <p:cNvPr id="27" name="">
            <a:extLst xmlns:a="http://schemas.openxmlformats.org/drawingml/2006/main">
              <a:ext uri="{FF2B5EF4-FFF2-40B4-BE49-F238E27FC236}">
                <a16:creationId xmlns:a16="http://schemas.microsoft.com/office/drawing/2014/main" id="{D261242A-FC37-439B-9285-1B9A45074759}"/>
              </a:ext>
            </a:extLst>
          </p:cNvPr>
          <p:cNvSpPr>
            <a:spLocks xmlns:a="http://schemas.openxmlformats.org/drawingml/2006/main" noGrp="1"/>
          </p:cNvSpPr>
          <p:nvPr/>
        </p:nvSpPr>
        <p:spPr>
          <a:xfrm xmlns:a="http://schemas.openxmlformats.org/drawingml/2006/main">
            <a:off x="6867525" y="2886075"/>
            <a:ext cx="4391025" cy="19050"/>
          </a:xfrm>
          <a:prstGeom xmlns:a="http://schemas.openxmlformats.org/drawingml/2006/main" prst="rect">
            <a:avLst/>
          </a:prstGeom>
          <a:solidFill xmlns:a="http://schemas.openxmlformats.org/drawingml/2006/main">
            <a:srgbClr val="222D4B"/>
          </a:solidFill>
          <a:ln xmlns:a="http://schemas.openxmlformats.org/drawingml/2006/main" w="0">
            <a:solidFill>
              <a:srgbClr val="222D4B"/>
            </a:solidFill>
            <a:prstDash val="solid"/>
          </a:ln>
        </p:spPr>
      </p:sp>
      <p:sp>
        <p:nvSpPr>
          <p:cNvPr id="28" name="">
            <a:extLst xmlns:a="http://schemas.openxmlformats.org/drawingml/2006/main">
              <a:ext uri="{FF2B5EF4-FFF2-40B4-BE49-F238E27FC236}">
                <a16:creationId xmlns:a16="http://schemas.microsoft.com/office/drawing/2014/main" id="{AEE18604-BFB2-4DAC-BF5B-98B993BB2E14}"/>
              </a:ext>
            </a:extLst>
          </p:cNvPr>
          <p:cNvSpPr>
            <a:spLocks xmlns:a="http://schemas.openxmlformats.org/drawingml/2006/main" noGrp="1"/>
          </p:cNvSpPr>
          <p:nvPr/>
        </p:nvSpPr>
        <p:spPr>
          <a:xfrm xmlns:a="http://schemas.openxmlformats.org/drawingml/2006/main">
            <a:off x="6867525" y="3114675"/>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Security and protocol engineering</a:t>
            </a:r>
          </a:p>
        </p:txBody>
      </p:sp>
      <p:sp>
        <p:nvSpPr>
          <p:cNvPr id="29" name="">
            <a:extLst xmlns:a="http://schemas.openxmlformats.org/drawingml/2006/main">
              <a:ext uri="{FF2B5EF4-FFF2-40B4-BE49-F238E27FC236}">
                <a16:creationId xmlns:a16="http://schemas.microsoft.com/office/drawing/2014/main" id="{91CD5ADF-65A7-4BF0-A2B2-F2096C6E0F82}"/>
              </a:ext>
            </a:extLst>
          </p:cNvPr>
          <p:cNvSpPr>
            <a:spLocks xmlns:a="http://schemas.openxmlformats.org/drawingml/2006/main" noGrp="1"/>
          </p:cNvSpPr>
          <p:nvPr/>
        </p:nvSpPr>
        <p:spPr>
          <a:xfrm xmlns:a="http://schemas.openxmlformats.org/drawingml/2006/main">
            <a:off x="10096500" y="3114675"/>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125" b="1" i="0">
                <a:solidFill>
                  <a:srgbClr val="D8FF55"/>
                </a:solidFill>
                <a:latin typeface="Arial"/>
                <a:ea typeface="Arial"/>
                <a:cs typeface="Arial"/>
              </a:defRPr>
            </a:pPr>
            <a:r>
              <a:rPr sz="1125" b="1" i="0">
                <a:solidFill>
                  <a:srgbClr val="D8FF55"/>
                </a:solidFill>
                <a:latin typeface="Arial"/>
                <a:ea typeface="Arial"/>
                <a:cs typeface="Arial"/>
              </a:rPr>
              <a:t>$675K</a:t>
            </a:r>
          </a:p>
        </p:txBody>
      </p:sp>
      <p:sp>
        <p:nvSpPr>
          <p:cNvPr id="30" name="">
            <a:extLst xmlns:a="http://schemas.openxmlformats.org/drawingml/2006/main">
              <a:ext uri="{FF2B5EF4-FFF2-40B4-BE49-F238E27FC236}">
                <a16:creationId xmlns:a16="http://schemas.microsoft.com/office/drawing/2014/main" id="{519C23DF-B00C-4BD3-83C2-4BC45394100B}"/>
              </a:ext>
            </a:extLst>
          </p:cNvPr>
          <p:cNvSpPr>
            <a:spLocks xmlns:a="http://schemas.openxmlformats.org/drawingml/2006/main" noGrp="1"/>
          </p:cNvSpPr>
          <p:nvPr/>
        </p:nvSpPr>
        <p:spPr>
          <a:xfrm xmlns:a="http://schemas.openxmlformats.org/drawingml/2006/main">
            <a:off x="6867525" y="3390900"/>
            <a:ext cx="4391025" cy="47625"/>
          </a:xfrm>
          <a:prstGeom xmlns:a="http://schemas.openxmlformats.org/drawingml/2006/main" prst="roundRect">
            <a:avLst>
              <a:gd name="adj" fmla="val 50000"/>
            </a:avLst>
          </a:prstGeom>
          <a:solidFill xmlns:a="http://schemas.openxmlformats.org/drawingml/2006/main">
            <a:srgbClr val="222D4B"/>
          </a:solidFill>
          <a:ln xmlns:a="http://schemas.openxmlformats.org/drawingml/2006/main" w="0">
            <a:solidFill>
              <a:srgbClr val="222D4B"/>
            </a:solidFill>
            <a:prstDash val="solid"/>
          </a:ln>
        </p:spPr>
      </p:sp>
      <p:sp>
        <p:nvSpPr>
          <p:cNvPr id="31" name="">
            <a:extLst xmlns:a="http://schemas.openxmlformats.org/drawingml/2006/main">
              <a:ext uri="{FF2B5EF4-FFF2-40B4-BE49-F238E27FC236}">
                <a16:creationId xmlns:a16="http://schemas.microsoft.com/office/drawing/2014/main" id="{1A6D383B-F7D6-4110-8B7E-31097F64831F}"/>
              </a:ext>
            </a:extLst>
          </p:cNvPr>
          <p:cNvSpPr>
            <a:spLocks xmlns:a="http://schemas.openxmlformats.org/drawingml/2006/main" noGrp="1"/>
          </p:cNvSpPr>
          <p:nvPr/>
        </p:nvSpPr>
        <p:spPr>
          <a:xfrm xmlns:a="http://schemas.openxmlformats.org/drawingml/2006/main">
            <a:off x="6867525" y="3390900"/>
            <a:ext cx="1975961" cy="47625"/>
          </a:xfrm>
          <a:prstGeom xmlns:a="http://schemas.openxmlformats.org/drawingml/2006/main" prst="roundRect">
            <a:avLst>
              <a:gd name="adj" fmla="val 50000"/>
            </a:avLst>
          </a:prstGeom>
          <a:solidFill xmlns:a="http://schemas.openxmlformats.org/drawingml/2006/main">
            <a:srgbClr val="D8FF55"/>
          </a:solidFill>
          <a:ln xmlns:a="http://schemas.openxmlformats.org/drawingml/2006/main" w="0">
            <a:solidFill>
              <a:srgbClr val="D8FF55"/>
            </a:solidFill>
            <a:prstDash val="solid"/>
          </a:ln>
        </p:spPr>
      </p:sp>
      <p:sp>
        <p:nvSpPr>
          <p:cNvPr id="32" name="">
            <a:extLst xmlns:a="http://schemas.openxmlformats.org/drawingml/2006/main">
              <a:ext uri="{FF2B5EF4-FFF2-40B4-BE49-F238E27FC236}">
                <a16:creationId xmlns:a16="http://schemas.microsoft.com/office/drawing/2014/main" id="{FB4825D0-6F98-4531-9167-B07421DBED0E}"/>
              </a:ext>
            </a:extLst>
          </p:cNvPr>
          <p:cNvSpPr>
            <a:spLocks xmlns:a="http://schemas.openxmlformats.org/drawingml/2006/main" noGrp="1"/>
          </p:cNvSpPr>
          <p:nvPr/>
        </p:nvSpPr>
        <p:spPr>
          <a:xfrm xmlns:a="http://schemas.openxmlformats.org/drawingml/2006/main">
            <a:off x="6867525" y="36195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Regulated settlement integrations</a:t>
            </a:r>
          </a:p>
        </p:txBody>
      </p:sp>
      <p:sp>
        <p:nvSpPr>
          <p:cNvPr id="33" name="">
            <a:extLst xmlns:a="http://schemas.openxmlformats.org/drawingml/2006/main">
              <a:ext uri="{FF2B5EF4-FFF2-40B4-BE49-F238E27FC236}">
                <a16:creationId xmlns:a16="http://schemas.microsoft.com/office/drawing/2014/main" id="{46B0576C-5E8A-4E50-83C2-703FCB9F9555}"/>
              </a:ext>
            </a:extLst>
          </p:cNvPr>
          <p:cNvSpPr>
            <a:spLocks xmlns:a="http://schemas.openxmlformats.org/drawingml/2006/main" noGrp="1"/>
          </p:cNvSpPr>
          <p:nvPr/>
        </p:nvSpPr>
        <p:spPr>
          <a:xfrm xmlns:a="http://schemas.openxmlformats.org/drawingml/2006/main">
            <a:off x="10096500" y="36195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125" b="1" i="0">
                <a:solidFill>
                  <a:srgbClr val="D8FF55"/>
                </a:solidFill>
                <a:latin typeface="Arial"/>
                <a:ea typeface="Arial"/>
                <a:cs typeface="Arial"/>
              </a:defRPr>
            </a:pPr>
            <a:r>
              <a:rPr sz="1125" b="1" i="0">
                <a:solidFill>
                  <a:srgbClr val="D8FF55"/>
                </a:solidFill>
                <a:latin typeface="Arial"/>
                <a:ea typeface="Arial"/>
                <a:cs typeface="Arial"/>
              </a:rPr>
              <a:t>$300K</a:t>
            </a:r>
          </a:p>
        </p:txBody>
      </p:sp>
      <p:sp>
        <p:nvSpPr>
          <p:cNvPr id="34" name="">
            <a:extLst xmlns:a="http://schemas.openxmlformats.org/drawingml/2006/main">
              <a:ext uri="{FF2B5EF4-FFF2-40B4-BE49-F238E27FC236}">
                <a16:creationId xmlns:a16="http://schemas.microsoft.com/office/drawing/2014/main" id="{6B63D39F-12EA-4A81-A618-24C2231FCF1B}"/>
              </a:ext>
            </a:extLst>
          </p:cNvPr>
          <p:cNvSpPr>
            <a:spLocks xmlns:a="http://schemas.openxmlformats.org/drawingml/2006/main" noGrp="1"/>
          </p:cNvSpPr>
          <p:nvPr/>
        </p:nvSpPr>
        <p:spPr>
          <a:xfrm xmlns:a="http://schemas.openxmlformats.org/drawingml/2006/main">
            <a:off x="6867525" y="3895725"/>
            <a:ext cx="4391025" cy="47625"/>
          </a:xfrm>
          <a:prstGeom xmlns:a="http://schemas.openxmlformats.org/drawingml/2006/main" prst="roundRect">
            <a:avLst>
              <a:gd name="adj" fmla="val 50000"/>
            </a:avLst>
          </a:prstGeom>
          <a:solidFill xmlns:a="http://schemas.openxmlformats.org/drawingml/2006/main">
            <a:srgbClr val="222D4B"/>
          </a:solidFill>
          <a:ln xmlns:a="http://schemas.openxmlformats.org/drawingml/2006/main" w="0">
            <a:solidFill>
              <a:srgbClr val="222D4B"/>
            </a:solidFill>
            <a:prstDash val="solid"/>
          </a:ln>
        </p:spPr>
      </p:sp>
      <p:sp>
        <p:nvSpPr>
          <p:cNvPr id="35" name="">
            <a:extLst xmlns:a="http://schemas.openxmlformats.org/drawingml/2006/main">
              <a:ext uri="{FF2B5EF4-FFF2-40B4-BE49-F238E27FC236}">
                <a16:creationId xmlns:a16="http://schemas.microsoft.com/office/drawing/2014/main" id="{5E4AC28B-B94A-487F-889B-2016892001DB}"/>
              </a:ext>
            </a:extLst>
          </p:cNvPr>
          <p:cNvSpPr>
            <a:spLocks xmlns:a="http://schemas.openxmlformats.org/drawingml/2006/main" noGrp="1"/>
          </p:cNvSpPr>
          <p:nvPr/>
        </p:nvSpPr>
        <p:spPr>
          <a:xfrm xmlns:a="http://schemas.openxmlformats.org/drawingml/2006/main">
            <a:off x="6867525" y="3895725"/>
            <a:ext cx="878205" cy="47625"/>
          </a:xfrm>
          <a:prstGeom xmlns:a="http://schemas.openxmlformats.org/drawingml/2006/main" prst="roundRect">
            <a:avLst>
              <a:gd name="adj" fmla="val 50000"/>
            </a:avLst>
          </a:prstGeom>
          <a:solidFill xmlns:a="http://schemas.openxmlformats.org/drawingml/2006/main">
            <a:srgbClr val="5268FF"/>
          </a:solidFill>
          <a:ln xmlns:a="http://schemas.openxmlformats.org/drawingml/2006/main" w="0">
            <a:solidFill>
              <a:srgbClr val="5268FF"/>
            </a:solidFill>
            <a:prstDash val="solid"/>
          </a:ln>
        </p:spPr>
      </p:sp>
      <p:sp>
        <p:nvSpPr>
          <p:cNvPr id="36" name="">
            <a:extLst xmlns:a="http://schemas.openxmlformats.org/drawingml/2006/main">
              <a:ext uri="{FF2B5EF4-FFF2-40B4-BE49-F238E27FC236}">
                <a16:creationId xmlns:a16="http://schemas.microsoft.com/office/drawing/2014/main" id="{4C035526-BD2D-412D-BD1D-FEFDDDF2B172}"/>
              </a:ext>
            </a:extLst>
          </p:cNvPr>
          <p:cNvSpPr>
            <a:spLocks xmlns:a="http://schemas.openxmlformats.org/drawingml/2006/main" noGrp="1"/>
          </p:cNvSpPr>
          <p:nvPr/>
        </p:nvSpPr>
        <p:spPr>
          <a:xfrm xmlns:a="http://schemas.openxmlformats.org/drawingml/2006/main">
            <a:off x="6867525" y="4124325"/>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Independent security, compliance, legal</a:t>
            </a:r>
          </a:p>
        </p:txBody>
      </p:sp>
      <p:sp>
        <p:nvSpPr>
          <p:cNvPr id="37" name="">
            <a:extLst xmlns:a="http://schemas.openxmlformats.org/drawingml/2006/main">
              <a:ext uri="{FF2B5EF4-FFF2-40B4-BE49-F238E27FC236}">
                <a16:creationId xmlns:a16="http://schemas.microsoft.com/office/drawing/2014/main" id="{C93DCE51-3BEB-4CDF-9C1F-45750503E7A8}"/>
              </a:ext>
            </a:extLst>
          </p:cNvPr>
          <p:cNvSpPr>
            <a:spLocks xmlns:a="http://schemas.openxmlformats.org/drawingml/2006/main" noGrp="1"/>
          </p:cNvSpPr>
          <p:nvPr/>
        </p:nvSpPr>
        <p:spPr>
          <a:xfrm xmlns:a="http://schemas.openxmlformats.org/drawingml/2006/main">
            <a:off x="10096500" y="4124325"/>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125" b="1" i="0">
                <a:solidFill>
                  <a:srgbClr val="D8FF55"/>
                </a:solidFill>
                <a:latin typeface="Arial"/>
                <a:ea typeface="Arial"/>
                <a:cs typeface="Arial"/>
              </a:defRPr>
            </a:pPr>
            <a:r>
              <a:rPr sz="1125" b="1" i="0">
                <a:solidFill>
                  <a:srgbClr val="D8FF55"/>
                </a:solidFill>
                <a:latin typeface="Arial"/>
                <a:ea typeface="Arial"/>
                <a:cs typeface="Arial"/>
              </a:rPr>
              <a:t>$225K</a:t>
            </a:r>
          </a:p>
        </p:txBody>
      </p:sp>
      <p:sp>
        <p:nvSpPr>
          <p:cNvPr id="38" name="">
            <a:extLst xmlns:a="http://schemas.openxmlformats.org/drawingml/2006/main">
              <a:ext uri="{FF2B5EF4-FFF2-40B4-BE49-F238E27FC236}">
                <a16:creationId xmlns:a16="http://schemas.microsoft.com/office/drawing/2014/main" id="{E9F816A2-D0E4-4AE6-AA3A-6CF5DC296B0E}"/>
              </a:ext>
            </a:extLst>
          </p:cNvPr>
          <p:cNvSpPr>
            <a:spLocks xmlns:a="http://schemas.openxmlformats.org/drawingml/2006/main" noGrp="1"/>
          </p:cNvSpPr>
          <p:nvPr/>
        </p:nvSpPr>
        <p:spPr>
          <a:xfrm xmlns:a="http://schemas.openxmlformats.org/drawingml/2006/main">
            <a:off x="6867525" y="4400550"/>
            <a:ext cx="4391025" cy="47625"/>
          </a:xfrm>
          <a:prstGeom xmlns:a="http://schemas.openxmlformats.org/drawingml/2006/main" prst="roundRect">
            <a:avLst>
              <a:gd name="adj" fmla="val 50000"/>
            </a:avLst>
          </a:prstGeom>
          <a:solidFill xmlns:a="http://schemas.openxmlformats.org/drawingml/2006/main">
            <a:srgbClr val="222D4B"/>
          </a:solidFill>
          <a:ln xmlns:a="http://schemas.openxmlformats.org/drawingml/2006/main" w="0">
            <a:solidFill>
              <a:srgbClr val="222D4B"/>
            </a:solidFill>
            <a:prstDash val="solid"/>
          </a:ln>
        </p:spPr>
      </p:sp>
      <p:sp>
        <p:nvSpPr>
          <p:cNvPr id="39" name="">
            <a:extLst xmlns:a="http://schemas.openxmlformats.org/drawingml/2006/main">
              <a:ext uri="{FF2B5EF4-FFF2-40B4-BE49-F238E27FC236}">
                <a16:creationId xmlns:a16="http://schemas.microsoft.com/office/drawing/2014/main" id="{294498D8-9918-4AC5-9B32-A5FC569A67A7}"/>
              </a:ext>
            </a:extLst>
          </p:cNvPr>
          <p:cNvSpPr>
            <a:spLocks xmlns:a="http://schemas.openxmlformats.org/drawingml/2006/main" noGrp="1"/>
          </p:cNvSpPr>
          <p:nvPr/>
        </p:nvSpPr>
        <p:spPr>
          <a:xfrm xmlns:a="http://schemas.openxmlformats.org/drawingml/2006/main">
            <a:off x="6867525" y="4400550"/>
            <a:ext cx="658654" cy="47625"/>
          </a:xfrm>
          <a:prstGeom xmlns:a="http://schemas.openxmlformats.org/drawingml/2006/main" prst="roundRect">
            <a:avLst>
              <a:gd name="adj" fmla="val 50000"/>
            </a:avLst>
          </a:prstGeom>
          <a:solidFill xmlns:a="http://schemas.openxmlformats.org/drawingml/2006/main">
            <a:srgbClr val="5268FF"/>
          </a:solidFill>
          <a:ln xmlns:a="http://schemas.openxmlformats.org/drawingml/2006/main" w="0">
            <a:solidFill>
              <a:srgbClr val="5268FF"/>
            </a:solidFill>
            <a:prstDash val="solid"/>
          </a:ln>
        </p:spPr>
      </p:sp>
      <p:sp>
        <p:nvSpPr>
          <p:cNvPr id="40" name="">
            <a:extLst xmlns:a="http://schemas.openxmlformats.org/drawingml/2006/main">
              <a:ext uri="{FF2B5EF4-FFF2-40B4-BE49-F238E27FC236}">
                <a16:creationId xmlns:a16="http://schemas.microsoft.com/office/drawing/2014/main" id="{4B425831-EFBB-4AF0-A203-017D89E61554}"/>
              </a:ext>
            </a:extLst>
          </p:cNvPr>
          <p:cNvSpPr>
            <a:spLocks xmlns:a="http://schemas.openxmlformats.org/drawingml/2006/main" noGrp="1"/>
          </p:cNvSpPr>
          <p:nvPr/>
        </p:nvSpPr>
        <p:spPr>
          <a:xfrm xmlns:a="http://schemas.openxmlformats.org/drawingml/2006/main">
            <a:off x="6867525" y="46291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Infrastructure and observability</a:t>
            </a:r>
          </a:p>
        </p:txBody>
      </p:sp>
      <p:sp>
        <p:nvSpPr>
          <p:cNvPr id="41" name="">
            <a:extLst xmlns:a="http://schemas.openxmlformats.org/drawingml/2006/main">
              <a:ext uri="{FF2B5EF4-FFF2-40B4-BE49-F238E27FC236}">
                <a16:creationId xmlns:a16="http://schemas.microsoft.com/office/drawing/2014/main" id="{CFED2BBC-8B38-47FC-88F1-D994438DA92D}"/>
              </a:ext>
            </a:extLst>
          </p:cNvPr>
          <p:cNvSpPr>
            <a:spLocks xmlns:a="http://schemas.openxmlformats.org/drawingml/2006/main" noGrp="1"/>
          </p:cNvSpPr>
          <p:nvPr/>
        </p:nvSpPr>
        <p:spPr>
          <a:xfrm xmlns:a="http://schemas.openxmlformats.org/drawingml/2006/main">
            <a:off x="10096500" y="46291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125" b="1" i="0">
                <a:solidFill>
                  <a:srgbClr val="D8FF55"/>
                </a:solidFill>
                <a:latin typeface="Arial"/>
                <a:ea typeface="Arial"/>
                <a:cs typeface="Arial"/>
              </a:defRPr>
            </a:pPr>
            <a:r>
              <a:rPr sz="1125" b="1" i="0">
                <a:solidFill>
                  <a:srgbClr val="D8FF55"/>
                </a:solidFill>
                <a:latin typeface="Arial"/>
                <a:ea typeface="Arial"/>
                <a:cs typeface="Arial"/>
              </a:rPr>
              <a:t>$150K</a:t>
            </a:r>
          </a:p>
        </p:txBody>
      </p:sp>
      <p:sp>
        <p:nvSpPr>
          <p:cNvPr id="42" name="">
            <a:extLst xmlns:a="http://schemas.openxmlformats.org/drawingml/2006/main">
              <a:ext uri="{FF2B5EF4-FFF2-40B4-BE49-F238E27FC236}">
                <a16:creationId xmlns:a16="http://schemas.microsoft.com/office/drawing/2014/main" id="{A8F8D61F-EDD3-4BC8-A2A3-2DEEE8E3AFB4}"/>
              </a:ext>
            </a:extLst>
          </p:cNvPr>
          <p:cNvSpPr>
            <a:spLocks xmlns:a="http://schemas.openxmlformats.org/drawingml/2006/main" noGrp="1"/>
          </p:cNvSpPr>
          <p:nvPr/>
        </p:nvSpPr>
        <p:spPr>
          <a:xfrm xmlns:a="http://schemas.openxmlformats.org/drawingml/2006/main">
            <a:off x="6867525" y="4905375"/>
            <a:ext cx="4391025" cy="47625"/>
          </a:xfrm>
          <a:prstGeom xmlns:a="http://schemas.openxmlformats.org/drawingml/2006/main" prst="roundRect">
            <a:avLst>
              <a:gd name="adj" fmla="val 50000"/>
            </a:avLst>
          </a:prstGeom>
          <a:solidFill xmlns:a="http://schemas.openxmlformats.org/drawingml/2006/main">
            <a:srgbClr val="222D4B"/>
          </a:solidFill>
          <a:ln xmlns:a="http://schemas.openxmlformats.org/drawingml/2006/main" w="0">
            <a:solidFill>
              <a:srgbClr val="222D4B"/>
            </a:solidFill>
            <a:prstDash val="solid"/>
          </a:ln>
        </p:spPr>
      </p:sp>
      <p:sp>
        <p:nvSpPr>
          <p:cNvPr id="43" name="">
            <a:extLst xmlns:a="http://schemas.openxmlformats.org/drawingml/2006/main">
              <a:ext uri="{FF2B5EF4-FFF2-40B4-BE49-F238E27FC236}">
                <a16:creationId xmlns:a16="http://schemas.microsoft.com/office/drawing/2014/main" id="{06B1AFDC-A306-4200-B4DF-E5332EF1663B}"/>
              </a:ext>
            </a:extLst>
          </p:cNvPr>
          <p:cNvSpPr>
            <a:spLocks xmlns:a="http://schemas.openxmlformats.org/drawingml/2006/main" noGrp="1"/>
          </p:cNvSpPr>
          <p:nvPr/>
        </p:nvSpPr>
        <p:spPr>
          <a:xfrm xmlns:a="http://schemas.openxmlformats.org/drawingml/2006/main">
            <a:off x="6867525" y="4905375"/>
            <a:ext cx="439103" cy="47625"/>
          </a:xfrm>
          <a:prstGeom xmlns:a="http://schemas.openxmlformats.org/drawingml/2006/main" prst="roundRect">
            <a:avLst>
              <a:gd name="adj" fmla="val 50000"/>
            </a:avLst>
          </a:prstGeom>
          <a:solidFill xmlns:a="http://schemas.openxmlformats.org/drawingml/2006/main">
            <a:srgbClr val="5268FF"/>
          </a:solidFill>
          <a:ln xmlns:a="http://schemas.openxmlformats.org/drawingml/2006/main" w="0">
            <a:solidFill>
              <a:srgbClr val="5268FF"/>
            </a:solidFill>
            <a:prstDash val="solid"/>
          </a:ln>
        </p:spPr>
      </p:sp>
      <p:sp>
        <p:nvSpPr>
          <p:cNvPr id="44" name="">
            <a:extLst xmlns:a="http://schemas.openxmlformats.org/drawingml/2006/main">
              <a:ext uri="{FF2B5EF4-FFF2-40B4-BE49-F238E27FC236}">
                <a16:creationId xmlns:a16="http://schemas.microsoft.com/office/drawing/2014/main" id="{09B5F591-AE06-4952-822E-1CAFB9CF2AEA}"/>
              </a:ext>
            </a:extLst>
          </p:cNvPr>
          <p:cNvSpPr>
            <a:spLocks xmlns:a="http://schemas.openxmlformats.org/drawingml/2006/main" noGrp="1"/>
          </p:cNvSpPr>
          <p:nvPr/>
        </p:nvSpPr>
        <p:spPr>
          <a:xfrm xmlns:a="http://schemas.openxmlformats.org/drawingml/2006/main">
            <a:off x="6867525" y="5133975"/>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Design-partner pilots and operations</a:t>
            </a:r>
          </a:p>
        </p:txBody>
      </p:sp>
      <p:sp>
        <p:nvSpPr>
          <p:cNvPr id="45" name="">
            <a:extLst xmlns:a="http://schemas.openxmlformats.org/drawingml/2006/main">
              <a:ext uri="{FF2B5EF4-FFF2-40B4-BE49-F238E27FC236}">
                <a16:creationId xmlns:a16="http://schemas.microsoft.com/office/drawing/2014/main" id="{8401798A-6BBD-4DD4-9C1F-AA4A2CBBEB67}"/>
              </a:ext>
            </a:extLst>
          </p:cNvPr>
          <p:cNvSpPr>
            <a:spLocks xmlns:a="http://schemas.openxmlformats.org/drawingml/2006/main" noGrp="1"/>
          </p:cNvSpPr>
          <p:nvPr/>
        </p:nvSpPr>
        <p:spPr>
          <a:xfrm xmlns:a="http://schemas.openxmlformats.org/drawingml/2006/main">
            <a:off x="10096500" y="5133975"/>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125" b="1" i="0">
                <a:solidFill>
                  <a:srgbClr val="D8FF55"/>
                </a:solidFill>
                <a:latin typeface="Arial"/>
                <a:ea typeface="Arial"/>
                <a:cs typeface="Arial"/>
              </a:defRPr>
            </a:pPr>
            <a:r>
              <a:rPr sz="1125" b="1" i="0">
                <a:solidFill>
                  <a:srgbClr val="D8FF55"/>
                </a:solidFill>
                <a:latin typeface="Arial"/>
                <a:ea typeface="Arial"/>
                <a:cs typeface="Arial"/>
              </a:rPr>
              <a:t>$150K</a:t>
            </a:r>
          </a:p>
        </p:txBody>
      </p:sp>
      <p:sp>
        <p:nvSpPr>
          <p:cNvPr id="46" name="">
            <a:extLst xmlns:a="http://schemas.openxmlformats.org/drawingml/2006/main">
              <a:ext uri="{FF2B5EF4-FFF2-40B4-BE49-F238E27FC236}">
                <a16:creationId xmlns:a16="http://schemas.microsoft.com/office/drawing/2014/main" id="{A2186720-867C-42A4-B443-1F1802E45533}"/>
              </a:ext>
            </a:extLst>
          </p:cNvPr>
          <p:cNvSpPr>
            <a:spLocks xmlns:a="http://schemas.openxmlformats.org/drawingml/2006/main" noGrp="1"/>
          </p:cNvSpPr>
          <p:nvPr/>
        </p:nvSpPr>
        <p:spPr>
          <a:xfrm xmlns:a="http://schemas.openxmlformats.org/drawingml/2006/main">
            <a:off x="6867525" y="5410200"/>
            <a:ext cx="4391025" cy="47625"/>
          </a:xfrm>
          <a:prstGeom xmlns:a="http://schemas.openxmlformats.org/drawingml/2006/main" prst="roundRect">
            <a:avLst>
              <a:gd name="adj" fmla="val 50000"/>
            </a:avLst>
          </a:prstGeom>
          <a:solidFill xmlns:a="http://schemas.openxmlformats.org/drawingml/2006/main">
            <a:srgbClr val="222D4B"/>
          </a:solidFill>
          <a:ln xmlns:a="http://schemas.openxmlformats.org/drawingml/2006/main" w="0">
            <a:solidFill>
              <a:srgbClr val="222D4B"/>
            </a:solidFill>
            <a:prstDash val="solid"/>
          </a:ln>
        </p:spPr>
      </p:sp>
      <p:sp>
        <p:nvSpPr>
          <p:cNvPr id="47" name="">
            <a:extLst xmlns:a="http://schemas.openxmlformats.org/drawingml/2006/main">
              <a:ext uri="{FF2B5EF4-FFF2-40B4-BE49-F238E27FC236}">
                <a16:creationId xmlns:a16="http://schemas.microsoft.com/office/drawing/2014/main" id="{FBE47A06-8F8B-43AB-B2D9-71A39753CC64}"/>
              </a:ext>
            </a:extLst>
          </p:cNvPr>
          <p:cNvSpPr>
            <a:spLocks xmlns:a="http://schemas.openxmlformats.org/drawingml/2006/main" noGrp="1"/>
          </p:cNvSpPr>
          <p:nvPr/>
        </p:nvSpPr>
        <p:spPr>
          <a:xfrm xmlns:a="http://schemas.openxmlformats.org/drawingml/2006/main">
            <a:off x="6867525" y="5410200"/>
            <a:ext cx="439103" cy="47625"/>
          </a:xfrm>
          <a:prstGeom xmlns:a="http://schemas.openxmlformats.org/drawingml/2006/main" prst="roundRect">
            <a:avLst>
              <a:gd name="adj" fmla="val 50000"/>
            </a:avLst>
          </a:prstGeom>
          <a:solidFill xmlns:a="http://schemas.openxmlformats.org/drawingml/2006/main">
            <a:srgbClr val="5268FF"/>
          </a:solidFill>
          <a:ln xmlns:a="http://schemas.openxmlformats.org/drawingml/2006/main" w="0">
            <a:solidFill>
              <a:srgbClr val="5268FF"/>
            </a:solidFill>
            <a:prstDash val="solid"/>
          </a:ln>
        </p:spPr>
      </p:sp>
      <p:sp>
        <p:nvSpPr>
          <p:cNvPr id="48" name="">
            <a:extLst xmlns:a="http://schemas.openxmlformats.org/drawingml/2006/main">
              <a:ext uri="{FF2B5EF4-FFF2-40B4-BE49-F238E27FC236}">
                <a16:creationId xmlns:a16="http://schemas.microsoft.com/office/drawing/2014/main" id="{AE8D3158-8DE7-4BE0-ADB6-19F8F405B530}"/>
              </a:ext>
            </a:extLst>
          </p:cNvPr>
          <p:cNvSpPr>
            <a:spLocks xmlns:a="http://schemas.openxmlformats.org/drawingml/2006/main" noGrp="1"/>
          </p:cNvSpPr>
          <p:nvPr/>
        </p:nvSpPr>
        <p:spPr>
          <a:xfrm xmlns:a="http://schemas.openxmlformats.org/drawingml/2006/main">
            <a:off x="6867525" y="5676900"/>
            <a:ext cx="4391025" cy="19050"/>
          </a:xfrm>
          <a:prstGeom xmlns:a="http://schemas.openxmlformats.org/drawingml/2006/main" prst="rect">
            <a:avLst/>
          </a:prstGeom>
          <a:solidFill xmlns:a="http://schemas.openxmlformats.org/drawingml/2006/main">
            <a:srgbClr val="222D4B"/>
          </a:solidFill>
          <a:ln xmlns:a="http://schemas.openxmlformats.org/drawingml/2006/main" w="0">
            <a:solidFill>
              <a:srgbClr val="222D4B"/>
            </a:solidFill>
            <a:prstDash val="solid"/>
          </a:ln>
        </p:spPr>
      </p:sp>
      <p:sp>
        <p:nvSpPr>
          <p:cNvPr id="49" name="">
            <a:extLst xmlns:a="http://schemas.openxmlformats.org/drawingml/2006/main">
              <a:ext uri="{FF2B5EF4-FFF2-40B4-BE49-F238E27FC236}">
                <a16:creationId xmlns:a16="http://schemas.microsoft.com/office/drawing/2014/main" id="{F521CEA6-BE93-40F8-B5A6-568A1B8B9979}"/>
              </a:ext>
            </a:extLst>
          </p:cNvPr>
          <p:cNvSpPr>
            <a:spLocks xmlns:a="http://schemas.openxmlformats.org/drawingml/2006/main" noGrp="1"/>
          </p:cNvSpPr>
          <p:nvPr/>
        </p:nvSpPr>
        <p:spPr>
          <a:xfrm xmlns:a="http://schemas.openxmlformats.org/drawingml/2006/main">
            <a:off x="6867525" y="5810250"/>
            <a:ext cx="1028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i="0">
                <a:solidFill>
                  <a:srgbClr val="D8FF55"/>
                </a:solidFill>
                <a:latin typeface="Arial"/>
                <a:ea typeface="Arial"/>
                <a:cs typeface="Arial"/>
              </a:defRPr>
            </a:pPr>
            <a:r>
              <a:rPr sz="975" b="1" i="0">
                <a:solidFill>
                  <a:srgbClr val="D8FF55"/>
                </a:solidFill>
                <a:latin typeface="Arial"/>
                <a:ea typeface="Arial"/>
                <a:cs typeface="Arial"/>
              </a:rPr>
              <a:t>MILESTONES</a:t>
            </a:r>
          </a:p>
        </p:txBody>
      </p:sp>
      <p:sp>
        <p:nvSpPr>
          <p:cNvPr id="50" name="">
            <a:extLst xmlns:a="http://schemas.openxmlformats.org/drawingml/2006/main">
              <a:ext uri="{FF2B5EF4-FFF2-40B4-BE49-F238E27FC236}">
                <a16:creationId xmlns:a16="http://schemas.microsoft.com/office/drawing/2014/main" id="{BD3DB0F8-B43E-4BCB-B3EF-8A32BBE19214}"/>
              </a:ext>
            </a:extLst>
          </p:cNvPr>
          <p:cNvSpPr>
            <a:spLocks xmlns:a="http://schemas.openxmlformats.org/drawingml/2006/main" noGrp="1"/>
          </p:cNvSpPr>
          <p:nvPr/>
        </p:nvSpPr>
        <p:spPr>
          <a:xfrm xmlns:a="http://schemas.openxmlformats.org/drawingml/2006/main">
            <a:off x="7981950" y="5743575"/>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i="0">
                <a:solidFill>
                  <a:srgbClr val="D0D6E5"/>
                </a:solidFill>
                <a:latin typeface="Arial"/>
                <a:ea typeface="Arial"/>
                <a:cs typeface="Arial"/>
              </a:defRPr>
            </a:pPr>
            <a:r>
              <a:rPr sz="975" b="0" i="0">
                <a:solidFill>
                  <a:srgbClr val="D0D6E5"/>
                </a:solidFill>
                <a:latin typeface="Arial"/>
                <a:ea typeface="Arial"/>
                <a:cs typeface="Arial"/>
              </a:rPr>
              <a:t>3 design partners   1 regulated corridor</a:t>
            </a:r>
          </a:p>
          <a:p xmlns:a="http://schemas.openxmlformats.org/drawingml/2006/main">
            <a:pPr algn="r">
              <a:defRPr sz="975" b="0" i="0">
                <a:solidFill>
                  <a:srgbClr val="D0D6E5"/>
                </a:solidFill>
                <a:latin typeface="Arial"/>
                <a:ea typeface="Arial"/>
                <a:cs typeface="Arial"/>
              </a:defRPr>
            </a:pPr>
            <a:r>
              <a:rPr sz="975" b="0" i="0">
                <a:solidFill>
                  <a:srgbClr val="D0D6E5"/>
                </a:solidFill>
                <a:latin typeface="Arial"/>
                <a:ea typeface="Arial"/>
                <a:cs typeface="Arial"/>
              </a:rPr>
              <a:t>Independent review   Low-limit live pilot</a:t>
            </a:r>
          </a:p>
        </p:txBody>
      </p:sp>
      <p:sp>
        <p:nvSpPr>
          <p:cNvPr id="51" name="">
            <a:extLst xmlns:a="http://schemas.openxmlformats.org/drawingml/2006/main">
              <a:ext uri="{FF2B5EF4-FFF2-40B4-BE49-F238E27FC236}">
                <a16:creationId xmlns:a16="http://schemas.microsoft.com/office/drawing/2014/main" id="{118BB20A-02A8-44C4-9A3C-65C9FECE3CBB}"/>
              </a:ext>
            </a:extLst>
          </p:cNvPr>
          <p:cNvSpPr>
            <a:spLocks xmlns:a="http://schemas.openxmlformats.org/drawingml/2006/main" noGrp="1"/>
          </p:cNvSpPr>
          <p:nvPr/>
        </p:nvSpPr>
        <p:spPr>
          <a:xfrm xmlns:a="http://schemas.openxmlformats.org/drawingml/2006/main">
            <a:off x="571500" y="6524625"/>
            <a:ext cx="11049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0" i="0">
                <a:solidFill>
                  <a:srgbClr val="697186"/>
                </a:solidFill>
                <a:latin typeface="Arial"/>
                <a:ea typeface="Arial"/>
                <a:cs typeface="Arial"/>
              </a:defRPr>
            </a:pPr>
            <a:r>
              <a:rPr sz="975" b="0" i="0">
                <a:solidFill>
                  <a:srgbClr val="697186"/>
                </a:solidFill>
                <a:latin typeface="Arial"/>
                <a:ea typeface="Arial"/>
                <a:cs typeface="Arial"/>
              </a:rPr>
              <a:t>All pricing, margin, customer, and funding figures are targets. Revenue model assumes 50,000 operations per customer each year.</a:t>
            </a:r>
          </a:p>
        </p:txBody>
      </p:sp>
    </p:spTree>
    <p:extLst>
      <p:ext uri="{BB962C8B-B14F-4D97-AF65-F5344CB8AC3E}">
        <p14:creationId xmlns:p14="http://schemas.microsoft.com/office/powerpoint/2010/main" val="916194763"/>
      </p:ext>
    </p:extLst>
  </p:cSld>
</p:sld>
</file>

<file path=ppt/slides/slide5.xml><?xml version="1.0" encoding="utf-8"?>
<p:sld xmlns:p="http://schemas.openxmlformats.org/presentationml/2006/main">
  <p:cSld>
    <p:bg>
      <p:bgPr>
        <a:solidFill xmlns:a="http://schemas.openxmlformats.org/drawingml/2006/main">
          <a:srgbClr val="101629"/>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403AD82-F2CB-4B85-9507-26D0403DE5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629"/>
          </a:solidFill>
          <a:ln xmlns:a="http://schemas.openxmlformats.org/drawingml/2006/main" w="0">
            <a:solidFill>
              <a:srgbClr val="101629"/>
            </a:solidFill>
            <a:prstDash val="solid"/>
          </a:ln>
        </p:spPr>
      </p:sp>
    </p:spTree>
    <p:extLst>
      <p:ext uri="{BB962C8B-B14F-4D97-AF65-F5344CB8AC3E}">
        <p14:creationId xmlns:p14="http://schemas.microsoft.com/office/powerpoint/2010/main" val="628447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2026-09-15T01:13:35.7070000Z</dcterms:created>
  <dcterms:modified xsi:type="dcterms:W3CDTF">2026-09-15T01:13:35.7070000Z</dcterms:modified>
</coreProperties>
</file>